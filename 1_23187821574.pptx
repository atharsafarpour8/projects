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7" r:id="rId5"/>
    <p:sldId id="272" r:id="rId6"/>
    <p:sldId id="265" r:id="rId7"/>
    <p:sldId id="258" r:id="rId8"/>
    <p:sldId id="273" r:id="rId9"/>
    <p:sldId id="276" r:id="rId10"/>
    <p:sldId id="264" r:id="rId11"/>
    <p:sldId id="275" r:id="rId12"/>
    <p:sldId id="269" r:id="rId13"/>
    <p:sldId id="262" r:id="rId14"/>
    <p:sldId id="267" r:id="rId15"/>
    <p:sldId id="277" r:id="rId16"/>
    <p:sldId id="278" r:id="rId17"/>
    <p:sldId id="279" r:id="rId18"/>
    <p:sldId id="280" r:id="rId19"/>
    <p:sldId id="281" r:id="rId20"/>
    <p:sldId id="282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</p:sldIdLst>
  <p:sldSz cx="12188825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4F"/>
    <a:srgbClr val="FFB7B7"/>
    <a:srgbClr val="FFFF00"/>
    <a:srgbClr val="FF6600"/>
    <a:srgbClr val="164B4F"/>
    <a:srgbClr val="1F4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87" autoAdjust="0"/>
  </p:normalViewPr>
  <p:slideViewPr>
    <p:cSldViewPr>
      <p:cViewPr varScale="1">
        <p:scale>
          <a:sx n="77" d="100"/>
          <a:sy n="77" d="100"/>
        </p:scale>
        <p:origin x="912" y="7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DCE6A3-90EC-4900-9297-C255B91DB8EE}" type="doc">
      <dgm:prSet loTypeId="urn:microsoft.com/office/officeart/2005/8/layout/venn3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2BDB31FA-3E43-4B4D-A559-B6B95051FCC1}">
      <dgm:prSet custT="1"/>
      <dgm:spPr/>
      <dgm:t>
        <a:bodyPr/>
        <a:lstStyle/>
        <a:p>
          <a:r>
            <a:rPr lang="en-GB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Token IDs</a:t>
          </a:r>
        </a:p>
      </dgm:t>
    </dgm:pt>
    <dgm:pt modelId="{B32BB55A-8DBA-436D-8C6C-B3F102B6EDB3}" type="parTrans" cxnId="{09D8574D-8810-43C2-B790-C8480CC3BB4E}">
      <dgm:prSet/>
      <dgm:spPr/>
      <dgm:t>
        <a:bodyPr/>
        <a:lstStyle/>
        <a:p>
          <a:endParaRPr lang="en-GB"/>
        </a:p>
      </dgm:t>
    </dgm:pt>
    <dgm:pt modelId="{D30D8C84-2BA3-418D-8C89-9F6F5A6FF2C6}" type="sibTrans" cxnId="{09D8574D-8810-43C2-B790-C8480CC3BB4E}">
      <dgm:prSet/>
      <dgm:spPr/>
      <dgm:t>
        <a:bodyPr/>
        <a:lstStyle/>
        <a:p>
          <a:endParaRPr lang="en-GB"/>
        </a:p>
      </dgm:t>
    </dgm:pt>
    <dgm:pt modelId="{0B4FD9CB-230D-42E7-85EB-F56F72F3E20C}">
      <dgm:prSet custT="1"/>
      <dgm:spPr/>
      <dgm:t>
        <a:bodyPr/>
        <a:lstStyle/>
        <a:p>
          <a:r>
            <a:rPr lang="en-GB" sz="1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Embedding + Position</a:t>
          </a:r>
        </a:p>
      </dgm:t>
    </dgm:pt>
    <dgm:pt modelId="{A173DB3F-E5E8-436E-ABC7-4C132D2FAAAC}" type="parTrans" cxnId="{83C3A89E-E5D0-4C7F-9F63-549471A0924F}">
      <dgm:prSet/>
      <dgm:spPr/>
      <dgm:t>
        <a:bodyPr/>
        <a:lstStyle/>
        <a:p>
          <a:endParaRPr lang="en-GB"/>
        </a:p>
      </dgm:t>
    </dgm:pt>
    <dgm:pt modelId="{E12453FE-7CF6-4328-A61D-455FF8E55E9A}" type="sibTrans" cxnId="{83C3A89E-E5D0-4C7F-9F63-549471A0924F}">
      <dgm:prSet/>
      <dgm:spPr/>
      <dgm:t>
        <a:bodyPr/>
        <a:lstStyle/>
        <a:p>
          <a:endParaRPr lang="en-GB"/>
        </a:p>
      </dgm:t>
    </dgm:pt>
    <dgm:pt modelId="{3A460741-456C-4D2A-872D-6394201D0EAA}">
      <dgm:prSet custT="1"/>
      <dgm:spPr/>
      <dgm:t>
        <a:bodyPr/>
        <a:lstStyle/>
        <a:p>
          <a:r>
            <a:rPr lang="en-GB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Transformer Blocks (N×)
</a:t>
          </a:r>
        </a:p>
      </dgm:t>
    </dgm:pt>
    <dgm:pt modelId="{022CE362-ECD3-4E7D-8614-EC0F51B57471}" type="parTrans" cxnId="{A6724BF4-8DDC-4CE9-875E-F29BCFEE95BE}">
      <dgm:prSet/>
      <dgm:spPr/>
      <dgm:t>
        <a:bodyPr/>
        <a:lstStyle/>
        <a:p>
          <a:endParaRPr lang="en-GB"/>
        </a:p>
      </dgm:t>
    </dgm:pt>
    <dgm:pt modelId="{7A50570E-4A5F-49BA-8A88-FDDCE39DE935}" type="sibTrans" cxnId="{A6724BF4-8DDC-4CE9-875E-F29BCFEE95BE}">
      <dgm:prSet/>
      <dgm:spPr/>
      <dgm:t>
        <a:bodyPr/>
        <a:lstStyle/>
        <a:p>
          <a:endParaRPr lang="en-GB"/>
        </a:p>
      </dgm:t>
    </dgm:pt>
    <dgm:pt modelId="{1AFB672C-6D79-4479-A7B8-3B1FDEEC0308}">
      <dgm:prSet custT="1"/>
      <dgm:spPr/>
      <dgm:t>
        <a:bodyPr/>
        <a:lstStyle/>
        <a:p>
          <a:r>
            <a:rPr lang="en-GB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Masked Self-Attention + FFN</a:t>
          </a:r>
        </a:p>
      </dgm:t>
    </dgm:pt>
    <dgm:pt modelId="{28AA24F9-2331-43E3-B056-D2E28C70876E}" type="parTrans" cxnId="{4A5D0F14-5D61-42DB-B7EF-64351E732FD4}">
      <dgm:prSet/>
      <dgm:spPr/>
      <dgm:t>
        <a:bodyPr/>
        <a:lstStyle/>
        <a:p>
          <a:endParaRPr lang="en-GB"/>
        </a:p>
      </dgm:t>
    </dgm:pt>
    <dgm:pt modelId="{AD8AAC10-33D3-4D8C-A6BA-31062E255336}" type="sibTrans" cxnId="{4A5D0F14-5D61-42DB-B7EF-64351E732FD4}">
      <dgm:prSet/>
      <dgm:spPr/>
      <dgm:t>
        <a:bodyPr/>
        <a:lstStyle/>
        <a:p>
          <a:endParaRPr lang="en-GB"/>
        </a:p>
      </dgm:t>
    </dgm:pt>
    <dgm:pt modelId="{F7983619-CA28-4BF8-A15D-36B3D9237E94}">
      <dgm:prSet custT="1"/>
      <dgm:spPr/>
      <dgm:t>
        <a:bodyPr/>
        <a:lstStyle/>
        <a:p>
          <a:r>
            <a:rPr lang="en-GB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LM Head (Linear)</a:t>
          </a:r>
        </a:p>
      </dgm:t>
    </dgm:pt>
    <dgm:pt modelId="{441CBFAD-C7C6-4733-A414-F89A7F4598E1}" type="parTrans" cxnId="{943FD531-9287-4B3D-AC61-6C31FBF8A9BC}">
      <dgm:prSet/>
      <dgm:spPr/>
      <dgm:t>
        <a:bodyPr/>
        <a:lstStyle/>
        <a:p>
          <a:endParaRPr lang="en-GB"/>
        </a:p>
      </dgm:t>
    </dgm:pt>
    <dgm:pt modelId="{5D6EAF3C-3611-41F7-92D1-77809C020A65}" type="sibTrans" cxnId="{943FD531-9287-4B3D-AC61-6C31FBF8A9BC}">
      <dgm:prSet/>
      <dgm:spPr/>
      <dgm:t>
        <a:bodyPr/>
        <a:lstStyle/>
        <a:p>
          <a:endParaRPr lang="en-GB"/>
        </a:p>
      </dgm:t>
    </dgm:pt>
    <dgm:pt modelId="{7399E3E4-DA6E-4F69-8D1A-3992372A2DF7}">
      <dgm:prSet custT="1"/>
      <dgm:spPr/>
      <dgm:t>
        <a:bodyPr/>
        <a:lstStyle/>
        <a:p>
          <a:r>
            <a:rPr lang="en-GB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Softmax → Next token</a:t>
          </a:r>
        </a:p>
      </dgm:t>
    </dgm:pt>
    <dgm:pt modelId="{8151B356-B7E8-4CFF-9A1D-9C0A4F7618A6}" type="parTrans" cxnId="{F42415EF-FCE7-487B-8DA4-C491FE604A56}">
      <dgm:prSet/>
      <dgm:spPr/>
      <dgm:t>
        <a:bodyPr/>
        <a:lstStyle/>
        <a:p>
          <a:endParaRPr lang="en-GB"/>
        </a:p>
      </dgm:t>
    </dgm:pt>
    <dgm:pt modelId="{ED0E424A-53C5-475B-B947-3386E95CAE0B}" type="sibTrans" cxnId="{F42415EF-FCE7-487B-8DA4-C491FE604A56}">
      <dgm:prSet/>
      <dgm:spPr/>
      <dgm:t>
        <a:bodyPr/>
        <a:lstStyle/>
        <a:p>
          <a:endParaRPr lang="en-GB"/>
        </a:p>
      </dgm:t>
    </dgm:pt>
    <dgm:pt modelId="{5F65B8A8-2064-419A-8251-A064CA5FBD34}">
      <dgm:prSet custT="1"/>
      <dgm:spPr/>
      <dgm:t>
        <a:bodyPr/>
        <a:lstStyle/>
        <a:p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Causal Mask (no future tokens)</a:t>
          </a:r>
          <a:endParaRPr lang="en-GB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A3302E7-1514-4141-93FB-73D899259B7F}" type="parTrans" cxnId="{24198C80-7899-4551-93B6-BE5A1E0AE66D}">
      <dgm:prSet/>
      <dgm:spPr/>
      <dgm:t>
        <a:bodyPr/>
        <a:lstStyle/>
        <a:p>
          <a:endParaRPr lang="en-GB"/>
        </a:p>
      </dgm:t>
    </dgm:pt>
    <dgm:pt modelId="{0A783F0A-FD0F-4099-9CFD-8EEE180703D8}" type="sibTrans" cxnId="{24198C80-7899-4551-93B6-BE5A1E0AE66D}">
      <dgm:prSet/>
      <dgm:spPr/>
      <dgm:t>
        <a:bodyPr/>
        <a:lstStyle/>
        <a:p>
          <a:endParaRPr lang="en-GB"/>
        </a:p>
      </dgm:t>
    </dgm:pt>
    <dgm:pt modelId="{03C16C0F-EB8B-48D9-9D22-742DE17EC829}" type="pres">
      <dgm:prSet presAssocID="{EEDCE6A3-90EC-4900-9297-C255B91DB8EE}" presName="Name0" presStyleCnt="0">
        <dgm:presLayoutVars>
          <dgm:dir/>
          <dgm:resizeHandles val="exact"/>
        </dgm:presLayoutVars>
      </dgm:prSet>
      <dgm:spPr/>
    </dgm:pt>
    <dgm:pt modelId="{DBBA4298-194E-44DE-AB80-52F268E8F111}" type="pres">
      <dgm:prSet presAssocID="{5F65B8A8-2064-419A-8251-A064CA5FBD34}" presName="Name5" presStyleLbl="vennNode1" presStyleIdx="0" presStyleCnt="7" custLinFactX="200000" custLinFactY="-6652" custLinFactNeighborX="258209" custLinFactNeighborY="-100000">
        <dgm:presLayoutVars>
          <dgm:bulletEnabled val="1"/>
        </dgm:presLayoutVars>
      </dgm:prSet>
      <dgm:spPr/>
    </dgm:pt>
    <dgm:pt modelId="{1504567D-2261-4476-8253-A10AFDA3582D}" type="pres">
      <dgm:prSet presAssocID="{0A783F0A-FD0F-4099-9CFD-8EEE180703D8}" presName="space" presStyleCnt="0"/>
      <dgm:spPr/>
    </dgm:pt>
    <dgm:pt modelId="{4538961A-C78F-46AF-82C7-F948813BFE7B}" type="pres">
      <dgm:prSet presAssocID="{7399E3E4-DA6E-4F69-8D1A-3992372A2DF7}" presName="Name5" presStyleLbl="vennNode1" presStyleIdx="1" presStyleCnt="7" custLinFactX="286652" custLinFactNeighborX="300000" custLinFactNeighborY="-50000">
        <dgm:presLayoutVars>
          <dgm:bulletEnabled val="1"/>
        </dgm:presLayoutVars>
      </dgm:prSet>
      <dgm:spPr/>
    </dgm:pt>
    <dgm:pt modelId="{C1BE7DCF-FAC4-4FF7-AE3B-93B4F2816BDA}" type="pres">
      <dgm:prSet presAssocID="{ED0E424A-53C5-475B-B947-3386E95CAE0B}" presName="space" presStyleCnt="0"/>
      <dgm:spPr/>
    </dgm:pt>
    <dgm:pt modelId="{EFEE6035-B307-4077-BC94-6EB1D85E9F43}" type="pres">
      <dgm:prSet presAssocID="{F7983619-CA28-4BF8-A15D-36B3D9237E94}" presName="Name5" presStyleLbl="vennNode1" presStyleIdx="2" presStyleCnt="7" custLinFactX="145140" custLinFactNeighborX="200000" custLinFactNeighborY="-40502">
        <dgm:presLayoutVars>
          <dgm:bulletEnabled val="1"/>
        </dgm:presLayoutVars>
      </dgm:prSet>
      <dgm:spPr/>
    </dgm:pt>
    <dgm:pt modelId="{1ADBB0DA-65AA-4F23-B9E1-438946461AB1}" type="pres">
      <dgm:prSet presAssocID="{5D6EAF3C-3611-41F7-92D1-77809C020A65}" presName="space" presStyleCnt="0"/>
      <dgm:spPr/>
    </dgm:pt>
    <dgm:pt modelId="{1A68BB42-F435-4EF8-8CDE-070B04706197}" type="pres">
      <dgm:prSet presAssocID="{1AFB672C-6D79-4479-A7B8-3B1FDEEC0308}" presName="Name5" presStyleLbl="vennNode1" presStyleIdx="3" presStyleCnt="7" custLinFactX="23907" custLinFactNeighborX="100000" custLinFactNeighborY="9336">
        <dgm:presLayoutVars>
          <dgm:bulletEnabled val="1"/>
        </dgm:presLayoutVars>
      </dgm:prSet>
      <dgm:spPr/>
    </dgm:pt>
    <dgm:pt modelId="{38C1CF02-14DF-44B3-AC4C-83D7CFCB732F}" type="pres">
      <dgm:prSet presAssocID="{AD8AAC10-33D3-4D8C-A6BA-31062E255336}" presName="space" presStyleCnt="0"/>
      <dgm:spPr/>
    </dgm:pt>
    <dgm:pt modelId="{4702D84B-B1E5-455C-9BD2-D7F6EF7DA9CE}" type="pres">
      <dgm:prSet presAssocID="{3A460741-456C-4D2A-872D-6394201D0EAA}" presName="Name5" presStyleLbl="vennNode1" presStyleIdx="4" presStyleCnt="7" custLinFactX="-84319" custLinFactNeighborX="-100000" custLinFactNeighborY="-31511">
        <dgm:presLayoutVars>
          <dgm:bulletEnabled val="1"/>
        </dgm:presLayoutVars>
      </dgm:prSet>
      <dgm:spPr/>
    </dgm:pt>
    <dgm:pt modelId="{6BABF0B7-2D72-4FC8-B514-0F7EBECC2437}" type="pres">
      <dgm:prSet presAssocID="{7A50570E-4A5F-49BA-8A88-FDDCE39DE935}" presName="space" presStyleCnt="0"/>
      <dgm:spPr/>
    </dgm:pt>
    <dgm:pt modelId="{DADEF8B6-BEC7-44B3-B34C-7B1322EC4E62}" type="pres">
      <dgm:prSet presAssocID="{0B4FD9CB-230D-42E7-85EB-F56F72F3E20C}" presName="Name5" presStyleLbl="vennNode1" presStyleIdx="5" presStyleCnt="7" custLinFactX="-205831" custLinFactNeighborX="-300000" custLinFactNeighborY="-32710">
        <dgm:presLayoutVars>
          <dgm:bulletEnabled val="1"/>
        </dgm:presLayoutVars>
      </dgm:prSet>
      <dgm:spPr/>
    </dgm:pt>
    <dgm:pt modelId="{26ED011C-183A-4372-850C-4240771CEA6E}" type="pres">
      <dgm:prSet presAssocID="{E12453FE-7CF6-4328-A61D-455FF8E55E9A}" presName="space" presStyleCnt="0"/>
      <dgm:spPr/>
    </dgm:pt>
    <dgm:pt modelId="{B14F7758-DFAE-4D11-AC4C-299AAB38141F}" type="pres">
      <dgm:prSet presAssocID="{2BDB31FA-3E43-4B4D-A559-B6B95051FCC1}" presName="Name5" presStyleLbl="vennNode1" presStyleIdx="6" presStyleCnt="7" custLinFactX="-347342" custLinFactNeighborX="-400000" custLinFactNeighborY="-26117">
        <dgm:presLayoutVars>
          <dgm:bulletEnabled val="1"/>
        </dgm:presLayoutVars>
      </dgm:prSet>
      <dgm:spPr/>
    </dgm:pt>
  </dgm:ptLst>
  <dgm:cxnLst>
    <dgm:cxn modelId="{15564211-F0C7-4361-819A-F1FCA59C9576}" type="presOf" srcId="{1AFB672C-6D79-4479-A7B8-3B1FDEEC0308}" destId="{1A68BB42-F435-4EF8-8CDE-070B04706197}" srcOrd="0" destOrd="0" presId="urn:microsoft.com/office/officeart/2005/8/layout/venn3"/>
    <dgm:cxn modelId="{4A5D0F14-5D61-42DB-B7EF-64351E732FD4}" srcId="{EEDCE6A3-90EC-4900-9297-C255B91DB8EE}" destId="{1AFB672C-6D79-4479-A7B8-3B1FDEEC0308}" srcOrd="3" destOrd="0" parTransId="{28AA24F9-2331-43E3-B056-D2E28C70876E}" sibTransId="{AD8AAC10-33D3-4D8C-A6BA-31062E255336}"/>
    <dgm:cxn modelId="{FEBF0E15-6888-4267-81F7-737C41D6BC50}" type="presOf" srcId="{5F65B8A8-2064-419A-8251-A064CA5FBD34}" destId="{DBBA4298-194E-44DE-AB80-52F268E8F111}" srcOrd="0" destOrd="0" presId="urn:microsoft.com/office/officeart/2005/8/layout/venn3"/>
    <dgm:cxn modelId="{68AD8615-2612-40A4-BE39-1C9540E74D3A}" type="presOf" srcId="{F7983619-CA28-4BF8-A15D-36B3D9237E94}" destId="{EFEE6035-B307-4077-BC94-6EB1D85E9F43}" srcOrd="0" destOrd="0" presId="urn:microsoft.com/office/officeart/2005/8/layout/venn3"/>
    <dgm:cxn modelId="{943FD531-9287-4B3D-AC61-6C31FBF8A9BC}" srcId="{EEDCE6A3-90EC-4900-9297-C255B91DB8EE}" destId="{F7983619-CA28-4BF8-A15D-36B3D9237E94}" srcOrd="2" destOrd="0" parTransId="{441CBFAD-C7C6-4733-A414-F89A7F4598E1}" sibTransId="{5D6EAF3C-3611-41F7-92D1-77809C020A65}"/>
    <dgm:cxn modelId="{6ADE7D3B-51F2-4F98-910A-B72EAC4AB4A3}" type="presOf" srcId="{2BDB31FA-3E43-4B4D-A559-B6B95051FCC1}" destId="{B14F7758-DFAE-4D11-AC4C-299AAB38141F}" srcOrd="0" destOrd="0" presId="urn:microsoft.com/office/officeart/2005/8/layout/venn3"/>
    <dgm:cxn modelId="{CFFB1B45-BCEE-422F-8FB5-0ADD97B2ADA6}" type="presOf" srcId="{0B4FD9CB-230D-42E7-85EB-F56F72F3E20C}" destId="{DADEF8B6-BEC7-44B3-B34C-7B1322EC4E62}" srcOrd="0" destOrd="0" presId="urn:microsoft.com/office/officeart/2005/8/layout/venn3"/>
    <dgm:cxn modelId="{09D8574D-8810-43C2-B790-C8480CC3BB4E}" srcId="{EEDCE6A3-90EC-4900-9297-C255B91DB8EE}" destId="{2BDB31FA-3E43-4B4D-A559-B6B95051FCC1}" srcOrd="6" destOrd="0" parTransId="{B32BB55A-8DBA-436D-8C6C-B3F102B6EDB3}" sibTransId="{D30D8C84-2BA3-418D-8C89-9F6F5A6FF2C6}"/>
    <dgm:cxn modelId="{6DB6DA72-AAFA-47BB-BABD-E90260293D77}" type="presOf" srcId="{7399E3E4-DA6E-4F69-8D1A-3992372A2DF7}" destId="{4538961A-C78F-46AF-82C7-F948813BFE7B}" srcOrd="0" destOrd="0" presId="urn:microsoft.com/office/officeart/2005/8/layout/venn3"/>
    <dgm:cxn modelId="{76F2DE7C-0F38-4043-8F16-D4555DEA99B6}" type="presOf" srcId="{EEDCE6A3-90EC-4900-9297-C255B91DB8EE}" destId="{03C16C0F-EB8B-48D9-9D22-742DE17EC829}" srcOrd="0" destOrd="0" presId="urn:microsoft.com/office/officeart/2005/8/layout/venn3"/>
    <dgm:cxn modelId="{24198C80-7899-4551-93B6-BE5A1E0AE66D}" srcId="{EEDCE6A3-90EC-4900-9297-C255B91DB8EE}" destId="{5F65B8A8-2064-419A-8251-A064CA5FBD34}" srcOrd="0" destOrd="0" parTransId="{2A3302E7-1514-4141-93FB-73D899259B7F}" sibTransId="{0A783F0A-FD0F-4099-9CFD-8EEE180703D8}"/>
    <dgm:cxn modelId="{83C3A89E-E5D0-4C7F-9F63-549471A0924F}" srcId="{EEDCE6A3-90EC-4900-9297-C255B91DB8EE}" destId="{0B4FD9CB-230D-42E7-85EB-F56F72F3E20C}" srcOrd="5" destOrd="0" parTransId="{A173DB3F-E5E8-436E-ABC7-4C132D2FAAAC}" sibTransId="{E12453FE-7CF6-4328-A61D-455FF8E55E9A}"/>
    <dgm:cxn modelId="{30CBC4D7-E023-4156-85DF-14BCB68824FB}" type="presOf" srcId="{3A460741-456C-4D2A-872D-6394201D0EAA}" destId="{4702D84B-B1E5-455C-9BD2-D7F6EF7DA9CE}" srcOrd="0" destOrd="0" presId="urn:microsoft.com/office/officeart/2005/8/layout/venn3"/>
    <dgm:cxn modelId="{F42415EF-FCE7-487B-8DA4-C491FE604A56}" srcId="{EEDCE6A3-90EC-4900-9297-C255B91DB8EE}" destId="{7399E3E4-DA6E-4F69-8D1A-3992372A2DF7}" srcOrd="1" destOrd="0" parTransId="{8151B356-B7E8-4CFF-9A1D-9C0A4F7618A6}" sibTransId="{ED0E424A-53C5-475B-B947-3386E95CAE0B}"/>
    <dgm:cxn modelId="{A6724BF4-8DDC-4CE9-875E-F29BCFEE95BE}" srcId="{EEDCE6A3-90EC-4900-9297-C255B91DB8EE}" destId="{3A460741-456C-4D2A-872D-6394201D0EAA}" srcOrd="4" destOrd="0" parTransId="{022CE362-ECD3-4E7D-8614-EC0F51B57471}" sibTransId="{7A50570E-4A5F-49BA-8A88-FDDCE39DE935}"/>
    <dgm:cxn modelId="{72A94582-4E78-44A4-A814-7E92773EBB6B}" type="presParOf" srcId="{03C16C0F-EB8B-48D9-9D22-742DE17EC829}" destId="{DBBA4298-194E-44DE-AB80-52F268E8F111}" srcOrd="0" destOrd="0" presId="urn:microsoft.com/office/officeart/2005/8/layout/venn3"/>
    <dgm:cxn modelId="{353AE0BF-E43B-4321-B634-571587BEF1AB}" type="presParOf" srcId="{03C16C0F-EB8B-48D9-9D22-742DE17EC829}" destId="{1504567D-2261-4476-8253-A10AFDA3582D}" srcOrd="1" destOrd="0" presId="urn:microsoft.com/office/officeart/2005/8/layout/venn3"/>
    <dgm:cxn modelId="{10BDE1CE-6E98-4B40-B39E-39AF62AA72ED}" type="presParOf" srcId="{03C16C0F-EB8B-48D9-9D22-742DE17EC829}" destId="{4538961A-C78F-46AF-82C7-F948813BFE7B}" srcOrd="2" destOrd="0" presId="urn:microsoft.com/office/officeart/2005/8/layout/venn3"/>
    <dgm:cxn modelId="{3CB9705D-40B1-4B98-A1F5-4992934E876A}" type="presParOf" srcId="{03C16C0F-EB8B-48D9-9D22-742DE17EC829}" destId="{C1BE7DCF-FAC4-4FF7-AE3B-93B4F2816BDA}" srcOrd="3" destOrd="0" presId="urn:microsoft.com/office/officeart/2005/8/layout/venn3"/>
    <dgm:cxn modelId="{CD9AC807-2C66-4D86-879F-14DD40E2BFFD}" type="presParOf" srcId="{03C16C0F-EB8B-48D9-9D22-742DE17EC829}" destId="{EFEE6035-B307-4077-BC94-6EB1D85E9F43}" srcOrd="4" destOrd="0" presId="urn:microsoft.com/office/officeart/2005/8/layout/venn3"/>
    <dgm:cxn modelId="{0B39FF57-A5AF-4C33-AF97-96E3F20680E0}" type="presParOf" srcId="{03C16C0F-EB8B-48D9-9D22-742DE17EC829}" destId="{1ADBB0DA-65AA-4F23-B9E1-438946461AB1}" srcOrd="5" destOrd="0" presId="urn:microsoft.com/office/officeart/2005/8/layout/venn3"/>
    <dgm:cxn modelId="{27785F73-9913-46A4-81BA-1C551AC7F5F8}" type="presParOf" srcId="{03C16C0F-EB8B-48D9-9D22-742DE17EC829}" destId="{1A68BB42-F435-4EF8-8CDE-070B04706197}" srcOrd="6" destOrd="0" presId="urn:microsoft.com/office/officeart/2005/8/layout/venn3"/>
    <dgm:cxn modelId="{ECCE5BAF-37B9-4A36-A019-D68A6598D476}" type="presParOf" srcId="{03C16C0F-EB8B-48D9-9D22-742DE17EC829}" destId="{38C1CF02-14DF-44B3-AC4C-83D7CFCB732F}" srcOrd="7" destOrd="0" presId="urn:microsoft.com/office/officeart/2005/8/layout/venn3"/>
    <dgm:cxn modelId="{E20082F6-E342-4A55-8D88-1E0B2AB7D61C}" type="presParOf" srcId="{03C16C0F-EB8B-48D9-9D22-742DE17EC829}" destId="{4702D84B-B1E5-455C-9BD2-D7F6EF7DA9CE}" srcOrd="8" destOrd="0" presId="urn:microsoft.com/office/officeart/2005/8/layout/venn3"/>
    <dgm:cxn modelId="{80E8B53F-5FF6-447F-A83C-2C4B075A9C07}" type="presParOf" srcId="{03C16C0F-EB8B-48D9-9D22-742DE17EC829}" destId="{6BABF0B7-2D72-4FC8-B514-0F7EBECC2437}" srcOrd="9" destOrd="0" presId="urn:microsoft.com/office/officeart/2005/8/layout/venn3"/>
    <dgm:cxn modelId="{35839243-9BFB-485C-8B8E-FD9414276F23}" type="presParOf" srcId="{03C16C0F-EB8B-48D9-9D22-742DE17EC829}" destId="{DADEF8B6-BEC7-44B3-B34C-7B1322EC4E62}" srcOrd="10" destOrd="0" presId="urn:microsoft.com/office/officeart/2005/8/layout/venn3"/>
    <dgm:cxn modelId="{54AAA4B2-8092-4B82-BAF8-88429FF0186E}" type="presParOf" srcId="{03C16C0F-EB8B-48D9-9D22-742DE17EC829}" destId="{26ED011C-183A-4372-850C-4240771CEA6E}" srcOrd="11" destOrd="0" presId="urn:microsoft.com/office/officeart/2005/8/layout/venn3"/>
    <dgm:cxn modelId="{8B9F0A7B-800F-44E4-844E-4EF2E1D4F8C1}" type="presParOf" srcId="{03C16C0F-EB8B-48D9-9D22-742DE17EC829}" destId="{B14F7758-DFAE-4D11-AC4C-299AAB38141F}" srcOrd="12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BA4298-194E-44DE-AB80-52F268E8F111}">
      <dsp:nvSpPr>
        <dsp:cNvPr id="0" name=""/>
        <dsp:cNvSpPr/>
      </dsp:nvSpPr>
      <dsp:spPr>
        <a:xfrm>
          <a:off x="3823483" y="138737"/>
          <a:ext cx="1518901" cy="151890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590" tIns="17780" rIns="8359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Causal Mask (no future tokens)</a:t>
          </a:r>
          <a:endParaRPr lang="en-GB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045921" y="361175"/>
        <a:ext cx="1074025" cy="1074025"/>
      </dsp:txXfrm>
    </dsp:sp>
    <dsp:sp modelId="{4538961A-C78F-46AF-82C7-F948813BFE7B}">
      <dsp:nvSpPr>
        <dsp:cNvPr id="0" name=""/>
        <dsp:cNvSpPr/>
      </dsp:nvSpPr>
      <dsp:spPr>
        <a:xfrm>
          <a:off x="6481716" y="999226"/>
          <a:ext cx="1518901" cy="1518901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590" tIns="17780" rIns="8359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Softmax → Next token</a:t>
          </a:r>
        </a:p>
      </dsp:txBody>
      <dsp:txXfrm>
        <a:off x="6704154" y="1221664"/>
        <a:ext cx="1074025" cy="1074025"/>
      </dsp:txXfrm>
    </dsp:sp>
    <dsp:sp modelId="{EFEE6035-B307-4077-BC94-6EB1D85E9F43}">
      <dsp:nvSpPr>
        <dsp:cNvPr id="0" name=""/>
        <dsp:cNvSpPr/>
      </dsp:nvSpPr>
      <dsp:spPr>
        <a:xfrm>
          <a:off x="5243629" y="1143491"/>
          <a:ext cx="1518901" cy="1518901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590" tIns="20320" rIns="8359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LM Head (Linear)</a:t>
          </a:r>
        </a:p>
      </dsp:txBody>
      <dsp:txXfrm>
        <a:off x="5466067" y="1365929"/>
        <a:ext cx="1074025" cy="1074025"/>
      </dsp:txXfrm>
    </dsp:sp>
    <dsp:sp modelId="{1A68BB42-F435-4EF8-8CDE-070B04706197}">
      <dsp:nvSpPr>
        <dsp:cNvPr id="0" name=""/>
        <dsp:cNvSpPr/>
      </dsp:nvSpPr>
      <dsp:spPr>
        <a:xfrm>
          <a:off x="4313559" y="1900481"/>
          <a:ext cx="1518901" cy="1518901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590" tIns="17780" rIns="8359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Masked Self-Attention + FFN</a:t>
          </a:r>
        </a:p>
      </dsp:txBody>
      <dsp:txXfrm>
        <a:off x="4535997" y="2122919"/>
        <a:ext cx="1074025" cy="1074025"/>
      </dsp:txXfrm>
    </dsp:sp>
    <dsp:sp modelId="{4702D84B-B1E5-455C-9BD2-D7F6EF7DA9CE}">
      <dsp:nvSpPr>
        <dsp:cNvPr id="0" name=""/>
        <dsp:cNvSpPr/>
      </dsp:nvSpPr>
      <dsp:spPr>
        <a:xfrm>
          <a:off x="3277273" y="1280055"/>
          <a:ext cx="1518901" cy="1518901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590" tIns="15240" rIns="8359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Transformer Blocks (N×)
</a:t>
          </a:r>
        </a:p>
      </dsp:txBody>
      <dsp:txXfrm>
        <a:off x="3499711" y="1502493"/>
        <a:ext cx="1074025" cy="1074025"/>
      </dsp:txXfrm>
    </dsp:sp>
    <dsp:sp modelId="{DADEF8B6-BEC7-44B3-B34C-7B1322EC4E62}">
      <dsp:nvSpPr>
        <dsp:cNvPr id="0" name=""/>
        <dsp:cNvSpPr/>
      </dsp:nvSpPr>
      <dsp:spPr>
        <a:xfrm>
          <a:off x="2039186" y="1261844"/>
          <a:ext cx="1518901" cy="151890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590" tIns="17780" rIns="8359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Embedding + Position</a:t>
          </a:r>
        </a:p>
      </dsp:txBody>
      <dsp:txXfrm>
        <a:off x="2261624" y="1484282"/>
        <a:ext cx="1074025" cy="1074025"/>
      </dsp:txXfrm>
    </dsp:sp>
    <dsp:sp modelId="{B14F7758-DFAE-4D11-AC4C-299AAB38141F}">
      <dsp:nvSpPr>
        <dsp:cNvPr id="0" name=""/>
        <dsp:cNvSpPr/>
      </dsp:nvSpPr>
      <dsp:spPr>
        <a:xfrm>
          <a:off x="801114" y="1361985"/>
          <a:ext cx="1518901" cy="1518901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590" tIns="20320" rIns="8359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Token IDs</a:t>
          </a:r>
        </a:p>
      </dsp:txBody>
      <dsp:txXfrm>
        <a:off x="1023552" y="1584423"/>
        <a:ext cx="1074025" cy="10740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2/8/2016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567D4A-04CB-4EDF-8FB1-342A02FC8EC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2/8/2016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Click to edit Master text styles</a:t>
            </a:r>
          </a:p>
          <a:p>
            <a:pPr lvl="1" rtl="0"/>
            <a:r>
              <a:t>Second level</a:t>
            </a:r>
          </a:p>
          <a:p>
            <a:pPr lvl="2" rtl="0"/>
            <a:r>
              <a:t>Third level</a:t>
            </a:r>
          </a:p>
          <a:p>
            <a:pPr lvl="3" rtl="0"/>
            <a:r>
              <a:t>Fourth level</a:t>
            </a:r>
          </a:p>
          <a:p>
            <a:pPr lvl="4" rtl="0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1351F-DBB1-4664-ADA9-83BC7CB8848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1351F-DBB1-4664-ADA9-83BC7CB8848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938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1351F-DBB1-4664-ADA9-83BC7CB884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12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A0D00EA6-0821-4AC5-933C-321AA654534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2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E61351F-DBB1-4664-ADA9-83BC7CB884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83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 rtlCol="0">
            <a:normAutofit/>
          </a:bodyPr>
          <a:lstStyle>
            <a:lvl1pPr>
              <a:defRPr sz="6000"/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r>
              <a:rPr lang="en-US"/>
              <a:t>2/8/2016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3811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r>
              <a:rPr lang="en-US"/>
              <a:t>2/8/2016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68883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rtlCol="0" anchor="b">
            <a:normAutofit/>
          </a:bodyPr>
          <a:lstStyle>
            <a:lvl1pPr algn="l">
              <a:defRPr sz="4800" b="0" i="0" cap="none" baseline="0"/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r>
              <a:rPr lang="en-US"/>
              <a:t>2/8/2016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0136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r>
              <a:rPr lang="en-US"/>
              <a:t>2/8/2016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62120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rtlCol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rtlCol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r>
              <a:rPr lang="en-US"/>
              <a:t>2/8/2016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52710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r>
              <a:rPr lang="en-US"/>
              <a:t>2/8/2016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95790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r>
              <a:rPr lang="en-US"/>
              <a:t>2/8/2016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99456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rtlCol="0" anchor="b">
            <a:normAutofit/>
          </a:bodyPr>
          <a:lstStyle>
            <a:lvl1pPr algn="l">
              <a:defRPr sz="3200" b="0"/>
            </a:lvl1pPr>
          </a:lstStyle>
          <a:p>
            <a:pPr rtl="0"/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3" y="685800"/>
            <a:ext cx="6172200" cy="5486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r>
              <a:rPr lang="en-US"/>
              <a:t>2/8/2016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58569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490360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 marL="1600200">
              <a:defRPr/>
            </a:lvl6pPr>
            <a:lvl7pPr marL="1874520">
              <a:defRPr/>
            </a:lvl7pPr>
            <a:lvl8pPr marL="2148840">
              <a:defRPr/>
            </a:lvl8pPr>
            <a:lvl9pPr marL="2423160"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r>
              <a:rPr lang="en-US"/>
              <a:t>2/8/2016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75708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r>
              <a:rPr lang="en-US"/>
              <a:t>2/8/2016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64878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36614" y="0"/>
            <a:ext cx="11352212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r>
              <a:rPr lang="en-US"/>
              <a:t>2/8/2016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8600" algn="l" defTabSz="914400" rtl="0" eaLnBrk="1" latinLnBrk="0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0412" y="1201882"/>
            <a:ext cx="10668000" cy="2209800"/>
          </a:xfrm>
        </p:spPr>
        <p:txBody>
          <a:bodyPr rtlCol="0">
            <a:normAutofit fontScale="90000"/>
          </a:bodyPr>
          <a:lstStyle/>
          <a:p>
            <a:pPr algn="ctr" rtl="1">
              <a:lnSpc>
                <a:spcPct val="150000"/>
              </a:lnSpc>
            </a:pPr>
            <a:r>
              <a:rPr lang="ar-OM" sz="5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مدل‌های یادگیری ماشین مولد </a:t>
            </a:r>
            <a:r>
              <a:rPr lang="ar-OM" sz="5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GB" sz="5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Generative AI</a:t>
            </a:r>
            <a:r>
              <a:rPr lang="fa-IR" sz="5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fa-I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(GPT-style) • Diffusion &amp; GAN • Local Demo (Python)</a:t>
            </a:r>
            <a:b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6366" y="5181600"/>
            <a:ext cx="10668000" cy="1371600"/>
          </a:xfrm>
          <a:solidFill>
            <a:schemeClr val="lt1">
              <a:alpha val="28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fa-IR" dirty="0">
                <a:cs typeface="B Nazanin" panose="00000400000000000000" pitchFamily="2" charset="-78"/>
              </a:rPr>
              <a:t>پروژه کارشناسی</a:t>
            </a:r>
            <a:r>
              <a:rPr lang="fa-IR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endParaRPr lang="fa-IR" dirty="0">
              <a:cs typeface="B Nazanin" panose="00000400000000000000" pitchFamily="2" charset="-78"/>
            </a:endParaRPr>
          </a:p>
          <a:p>
            <a:pPr algn="r">
              <a:lnSpc>
                <a:spcPct val="100000"/>
              </a:lnSpc>
            </a:pPr>
            <a:r>
              <a:rPr lang="fa-IR" dirty="0">
                <a:cs typeface="B Nazanin" panose="00000400000000000000" pitchFamily="2" charset="-78"/>
              </a:rPr>
              <a:t>دانشجو : اطهر صفرپور </a:t>
            </a:r>
          </a:p>
          <a:p>
            <a:pPr algn="r">
              <a:lnSpc>
                <a:spcPct val="100000"/>
              </a:lnSpc>
            </a:pPr>
            <a:r>
              <a:rPr lang="fa-IR" dirty="0">
                <a:cs typeface="B Nazanin" panose="00000400000000000000" pitchFamily="2" charset="-78"/>
              </a:rPr>
              <a:t>استاد راهنما : سرکار خانم دکتر مغاری </a:t>
            </a:r>
            <a:endParaRPr lang="en-GB" dirty="0">
              <a:cs typeface="B Nazanin" panose="00000400000000000000" pitchFamily="2" charset="-78"/>
            </a:endParaRPr>
          </a:p>
          <a:p>
            <a:pPr algn="r" rtl="0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198176989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531812" y="1676400"/>
            <a:ext cx="10820400" cy="4495800"/>
          </a:xfrm>
        </p:spPr>
        <p:txBody>
          <a:bodyPr rtlCol="0">
            <a:normAutofit/>
          </a:bodyPr>
          <a:lstStyle/>
          <a:p>
            <a:pPr algn="r" rtl="1">
              <a:buClr>
                <a:srgbClr val="C00000"/>
              </a:buClr>
            </a:pPr>
            <a:r>
              <a:rPr lang="ar-OM" dirty="0">
                <a:cs typeface="B Nazanin" panose="00000400000000000000" pitchFamily="2" charset="-78"/>
              </a:rPr>
              <a:t>تعریف مدل‌های مولد و دسته‌بندی کلی</a:t>
            </a:r>
          </a:p>
          <a:p>
            <a:pPr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تاریخچه و نقاط عطف</a:t>
            </a:r>
            <a:r>
              <a:rPr lang="fa-IR" b="1" dirty="0">
                <a:cs typeface="B Nazanin" panose="00000400000000000000" pitchFamily="2" charset="-78"/>
              </a:rPr>
              <a:t>:</a:t>
            </a:r>
            <a:r>
              <a:rPr lang="ar-OM" b="1" dirty="0">
                <a:cs typeface="B Nazanin" panose="00000400000000000000" pitchFamily="2" charset="-78"/>
              </a:rPr>
              <a:t>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 → Transformer → LLM/GPT → Diffusion/Stable Diffusion</a:t>
            </a:r>
            <a:endParaRPr lang="fa-I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buClr>
                <a:srgbClr val="C00000"/>
              </a:buClr>
              <a:buSzPct val="109000"/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LLM</a:t>
            </a:r>
            <a:r>
              <a:rPr lang="ar-OM" b="1" dirty="0">
                <a:cs typeface="B Nazanin" panose="00000400000000000000" pitchFamily="2" charset="-78"/>
              </a:rPr>
              <a:t>ها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(GPT-style) </a:t>
            </a: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ar-OM" dirty="0">
                <a:cs typeface="B Nazanin" panose="00000400000000000000" pitchFamily="2" charset="-78"/>
              </a:rPr>
              <a:t>معماری، داده/آموزش</a:t>
            </a:r>
            <a:r>
              <a:rPr lang="ar-OM" dirty="0"/>
              <a:t>،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vs API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تولید تصویر:</a:t>
            </a:r>
            <a:r>
              <a:rPr lang="ar-OM" b="1" dirty="0"/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fa-IR" dirty="0"/>
              <a:t> و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Diffusion/Stable Diffusion</a:t>
            </a:r>
            <a:r>
              <a:rPr lang="fa-I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+ متن محور شدن </a:t>
            </a:r>
            <a:endParaRPr lang="en-GB" dirty="0">
              <a:cs typeface="B Nazanin" panose="00000400000000000000" pitchFamily="2" charset="-78"/>
            </a:endParaRPr>
          </a:p>
          <a:p>
            <a:pPr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پروژه عملی لوکال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(Python Demo) </a:t>
            </a: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ar-OM" dirty="0">
                <a:cs typeface="B Nazanin" panose="00000400000000000000" pitchFamily="2" charset="-78"/>
              </a:rPr>
              <a:t>معماری، پیاده‌سازی، نتایج و ارزیابی</a:t>
            </a:r>
          </a:p>
          <a:p>
            <a:pPr algn="r" rtl="1">
              <a:buClr>
                <a:srgbClr val="C00000"/>
              </a:buClr>
            </a:pPr>
            <a:r>
              <a:rPr lang="ar-OM" dirty="0">
                <a:cs typeface="B Nazanin" panose="00000400000000000000" pitchFamily="2" charset="-78"/>
              </a:rPr>
              <a:t>جمع‌بندی، محدودیت‌ها و مسیرهای آینده + پرسش و پاسخ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737A7-7E6F-134E-9C38-B005EB058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685211" y="533400"/>
            <a:ext cx="26670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نقشه </a:t>
            </a: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ارائه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D473F52-625A-9E1F-7F97-C2318CFD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301" y="3276600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082159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7212" y="76200"/>
            <a:ext cx="9601200" cy="1143000"/>
          </a:xfrm>
        </p:spPr>
        <p:txBody>
          <a:bodyPr rtlCol="0"/>
          <a:lstStyle/>
          <a:p>
            <a:pPr algn="r" rtl="1"/>
            <a:r>
              <a:rPr lang="ar-OM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مدل مولد چیست؟ </a:t>
            </a: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Generative vs Discriminative)</a:t>
            </a:r>
            <a:r>
              <a:rPr lang="fa-I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275F1-63B9-B57E-E47F-DC3433B4F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9582" y="1600200"/>
            <a:ext cx="5257800" cy="2255241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ar-OM" dirty="0">
                <a:cs typeface="B Nazanin" panose="00000400000000000000" pitchFamily="2" charset="-78"/>
              </a:rPr>
              <a:t>مدل مولد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هدف: </a:t>
            </a:r>
            <a:r>
              <a:rPr lang="ar-OM" dirty="0">
                <a:cs typeface="B Nazanin" panose="00000400000000000000" pitchFamily="2" charset="-78"/>
              </a:rPr>
              <a:t>یادگیری الگوی داده و تولید نمونه جدید</a:t>
            </a:r>
          </a:p>
          <a:p>
            <a:pPr marL="342900" indent="-342900"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خروجی: </a:t>
            </a:r>
            <a:r>
              <a:rPr lang="ar-OM" dirty="0">
                <a:cs typeface="B Nazanin" panose="00000400000000000000" pitchFamily="2" charset="-78"/>
              </a:rPr>
              <a:t>متن، تصویر، صدا، کد</a:t>
            </a:r>
          </a:p>
          <a:p>
            <a:pPr marL="342900" indent="-342900"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مثال: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GPT/LLM، Stable Diffusion، GAN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B57640-845F-2B7B-93D5-228AD84872C7}"/>
              </a:ext>
            </a:extLst>
          </p:cNvPr>
          <p:cNvSpPr txBox="1"/>
          <p:nvPr/>
        </p:nvSpPr>
        <p:spPr>
          <a:xfrm>
            <a:off x="9521824" y="10744200"/>
            <a:ext cx="236662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7E76B6-D905-19F9-2B4B-8DFED0A9F3A8}"/>
              </a:ext>
            </a:extLst>
          </p:cNvPr>
          <p:cNvSpPr/>
          <p:nvPr/>
        </p:nvSpPr>
        <p:spPr>
          <a:xfrm>
            <a:off x="1712912" y="4343400"/>
            <a:ext cx="8763000" cy="914400"/>
          </a:xfrm>
          <a:prstGeom prst="rect">
            <a:avLst/>
          </a:prstGeom>
          <a:solidFill>
            <a:srgbClr val="FFC00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Discriminative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 → 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B Nazanin" panose="00000400000000000000" pitchFamily="2" charset="-78"/>
              </a:rPr>
              <a:t>«</a:t>
            </a:r>
            <a:r>
              <a:rPr lang="ar-SA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B Nazanin" panose="00000400000000000000" pitchFamily="2" charset="-78"/>
              </a:rPr>
              <a:t>تشخیص می‌دهد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B Nazanin" panose="00000400000000000000" pitchFamily="2" charset="-78"/>
              </a:rPr>
              <a:t>»     </a:t>
            </a:r>
            <a:r>
              <a:rPr lang="en-US" alt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Generative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→ 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B Nazanin" panose="00000400000000000000" pitchFamily="2" charset="-78"/>
              </a:rPr>
              <a:t>«</a:t>
            </a:r>
            <a:r>
              <a:rPr lang="ar-SA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B Nazanin" panose="00000400000000000000" pitchFamily="2" charset="-78"/>
              </a:rPr>
              <a:t>می‌سازد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B Nazanin" panose="00000400000000000000" pitchFamily="2" charset="-78"/>
              </a:rPr>
              <a:t>»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chemeClr val="bg1"/>
              </a:solidFill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FB2518D-C269-E4B2-352E-77EBFAFEB1A2}"/>
              </a:ext>
            </a:extLst>
          </p:cNvPr>
          <p:cNvSpPr txBox="1">
            <a:spLocks/>
          </p:cNvSpPr>
          <p:nvPr/>
        </p:nvSpPr>
        <p:spPr>
          <a:xfrm>
            <a:off x="0" y="1676400"/>
            <a:ext cx="63246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8600" algn="l" defTabSz="914400" rtl="0" eaLnBrk="1" latinLnBrk="0" hangingPunct="1">
              <a:lnSpc>
                <a:spcPct val="90000"/>
              </a:lnSpc>
              <a:spcBef>
                <a:spcPts val="16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74520" indent="-228600" algn="l" defTabSz="914400" rtl="0" eaLnBrk="1" latinLnBrk="0" hangingPunct="1"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48840" indent="-228600" algn="l" defTabSz="914400" rtl="0" eaLnBrk="1" latinLnBrk="0" hangingPunct="1"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23160" indent="-228600" algn="l" defTabSz="914400" rtl="0" eaLnBrk="1" latinLnBrk="0" hangingPunct="1"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Font typeface="Arial" pitchFamily="34" charset="0"/>
              <a:buNone/>
            </a:pPr>
            <a:r>
              <a:rPr lang="ar-OM" dirty="0">
                <a:cs typeface="B Nazanin" panose="00000400000000000000" pitchFamily="2" charset="-78"/>
              </a:rPr>
              <a:t>مدل تمایزبخش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Discriminative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هدف: </a:t>
            </a:r>
            <a:r>
              <a:rPr lang="ar-OM" dirty="0">
                <a:cs typeface="B Nazanin" panose="00000400000000000000" pitchFamily="2" charset="-78"/>
              </a:rPr>
              <a:t>پیش‌بینی برچسب/کلاس یا مقدار از روی ورودی</a:t>
            </a:r>
          </a:p>
          <a:p>
            <a:pPr marL="342900" indent="-342900"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خروجی: </a:t>
            </a:r>
            <a:r>
              <a:rPr lang="ar-OM" dirty="0">
                <a:cs typeface="B Nazanin" panose="00000400000000000000" pitchFamily="2" charset="-78"/>
              </a:rPr>
              <a:t>طبقه‌بندی و رگرسیون</a:t>
            </a:r>
          </a:p>
          <a:p>
            <a:pPr marL="342900" indent="-342900"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مثال:</a:t>
            </a:r>
            <a:r>
              <a:rPr lang="ar-OM" b="1" dirty="0"/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Regression، SVM، CNN Classifier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67492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ECDEA4E-6C53-F36B-CD21-55F2F4D1A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146727" y="685800"/>
            <a:ext cx="40911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دسته‌بندی مدل‌های مولد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1EDCC51-3A3C-3FE1-9279-FCE8D6CDE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94112" y="1600200"/>
            <a:ext cx="75438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Autoregressive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a-IR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tabLst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fa-I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kumimoji="0" lang="ar-OM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تولید مرحله‌به‌مرحله </a:t>
            </a:r>
            <a:r>
              <a:rPr kumimoji="0" lang="ar-OM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ar-OM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مثال</a:t>
            </a:r>
            <a:r>
              <a:rPr kumimoji="0" lang="ar-OM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GPT/LLM</a:t>
            </a:r>
            <a:r>
              <a:rPr kumimoji="0" lang="fa-I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a-I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kumimoji="0" lang="fa-I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tabLst/>
            </a:pPr>
            <a:r>
              <a:rPr kumimoji="0" lang="fa-I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     </a:t>
            </a:r>
            <a:r>
              <a:rPr kumimoji="0" lang="ar-OM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بازی</a:t>
            </a:r>
            <a:r>
              <a:rPr kumimoji="0" lang="ar-OM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Generator / Discriminator</a:t>
            </a:r>
            <a:endParaRPr kumimoji="0" lang="fa-I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a-I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endParaRPr lang="fa-IR" altLang="en-US" b="1" dirty="0">
              <a:latin typeface="Arial" panose="020B0604020202020204" pitchFamily="34" charset="0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tabLst/>
            </a:pPr>
            <a:r>
              <a:rPr kumimoji="0" lang="fa-I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    </a:t>
            </a:r>
            <a:r>
              <a:rPr kumimoji="0" lang="ar-OM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نویز → حذف نویز </a:t>
            </a:r>
            <a:r>
              <a:rPr kumimoji="0" lang="en-GB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Denoising</a:t>
            </a: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fa-I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VAE / Flow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fa-I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tabLst/>
            </a:pPr>
            <a:r>
              <a:rPr lang="fa-IR" altLang="en-US" dirty="0">
                <a:latin typeface="Arial" panose="020B0604020202020204" pitchFamily="34" charset="0"/>
                <a:cs typeface="B Nazanin" panose="00000400000000000000" pitchFamily="2" charset="-78"/>
              </a:rPr>
              <a:t>     </a:t>
            </a:r>
            <a:r>
              <a:rPr kumimoji="0" lang="ar-OM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مدل‌های احتمالاتی کلاسیک‌تر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3176826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304800"/>
            <a:ext cx="9601200" cy="762000"/>
          </a:xfrm>
        </p:spPr>
        <p:txBody>
          <a:bodyPr rtlCol="0"/>
          <a:lstStyle/>
          <a:p>
            <a:pPr algn="r" rtl="1"/>
            <a:r>
              <a:rPr lang="ar-OM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تاریخچه و نقاط عطف مدل‌های مولد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751012" y="1447800"/>
            <a:ext cx="9424416" cy="4495800"/>
          </a:xfrm>
        </p:spPr>
        <p:txBody>
          <a:bodyPr rtlCol="0">
            <a:normAutofit/>
          </a:bodyPr>
          <a:lstStyle/>
          <a:p>
            <a:pPr algn="r" rtl="1"/>
            <a:r>
              <a:rPr lang="ar-OM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2014</a:t>
            </a:r>
            <a:r>
              <a:rPr lang="ar-OM" dirty="0"/>
              <a:t>: </a:t>
            </a:r>
            <a:r>
              <a:rPr lang="ar-OM" dirty="0">
                <a:cs typeface="B Nazanin" panose="00000400000000000000" pitchFamily="2" charset="-78"/>
              </a:rPr>
              <a:t>معرفی</a:t>
            </a:r>
            <a:r>
              <a:rPr lang="ar-OM" dirty="0"/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buClr>
                <a:srgbClr val="C00000"/>
              </a:buClr>
            </a:pPr>
            <a:r>
              <a:rPr lang="en-GB" dirty="0"/>
              <a:t> :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2017</a:t>
            </a:r>
            <a:r>
              <a:rPr lang="ar-OM" dirty="0">
                <a:cs typeface="B Nazanin" panose="00000400000000000000" pitchFamily="2" charset="-78"/>
              </a:rPr>
              <a:t>معرفی</a:t>
            </a:r>
            <a:r>
              <a:rPr lang="ar-OM" dirty="0"/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buClr>
                <a:srgbClr val="C00000"/>
              </a:buClr>
            </a:pPr>
            <a:r>
              <a:rPr lang="en-GB" dirty="0"/>
              <a:t>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GPT-1</a:t>
            </a:r>
            <a:r>
              <a:rPr lang="en-GB" dirty="0"/>
              <a:t> :</a:t>
            </a: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2018</a:t>
            </a:r>
            <a:r>
              <a:rPr lang="ar-OM" dirty="0">
                <a:cs typeface="B Nazanin" panose="00000400000000000000" pitchFamily="2" charset="-78"/>
              </a:rPr>
              <a:t>پیش‌آموزش زبانی</a:t>
            </a:r>
            <a:r>
              <a:rPr lang="ar-OM" dirty="0"/>
              <a:t>)</a:t>
            </a:r>
          </a:p>
          <a:p>
            <a:pPr algn="r" rtl="1">
              <a:lnSpc>
                <a:spcPct val="120000"/>
              </a:lnSpc>
            </a:pPr>
            <a:r>
              <a:rPr lang="ar-OM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GPT-2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lnSpc>
                <a:spcPct val="120000"/>
              </a:lnSpc>
            </a:pPr>
            <a:r>
              <a:rPr lang="ar-OM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2020</a:t>
            </a:r>
            <a:r>
              <a:rPr lang="ar-OM" dirty="0"/>
              <a:t>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GPT-3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و رشد مدل‌های زبانی بزرگ</a:t>
            </a:r>
          </a:p>
          <a:p>
            <a:pPr algn="r" rtl="1"/>
            <a:r>
              <a:rPr lang="ar-OM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2020</a:t>
            </a:r>
            <a:r>
              <a:rPr lang="ar-OM" dirty="0"/>
              <a:t>: </a:t>
            </a:r>
            <a:r>
              <a:rPr lang="en-US" dirty="0"/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DDPM / Diffusion Models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(Denoising)</a:t>
            </a:r>
            <a:r>
              <a:rPr lang="ar-OM" dirty="0">
                <a:cs typeface="B Nazanin" panose="00000400000000000000" pitchFamily="2" charset="-78"/>
              </a:rPr>
              <a:t>و جهش کیفیت تولید تصویر</a:t>
            </a:r>
            <a:endParaRPr lang="ar-OM" dirty="0"/>
          </a:p>
          <a:p>
            <a:pPr algn="r" rtl="1"/>
            <a:r>
              <a:rPr lang="ar-OM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lang="ar-OM" dirty="0"/>
              <a:t>: </a:t>
            </a:r>
            <a:r>
              <a:rPr lang="en-US" dirty="0"/>
              <a:t>)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Diffusion </a:t>
            </a:r>
            <a:r>
              <a:rPr lang="ar-OM" dirty="0">
                <a:cs typeface="B Nazanin" panose="00000400000000000000" pitchFamily="2" charset="-78"/>
              </a:rPr>
              <a:t>متن → تصویر، اجرای نسبتاً سبک‌تر با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Latent Diffusion</a:t>
            </a:r>
            <a:r>
              <a:rPr lang="ar-OM" dirty="0"/>
              <a:t>)</a:t>
            </a:r>
          </a:p>
          <a:p>
            <a:pPr algn="r" rtl="1">
              <a:buClr>
                <a:srgbClr val="C00000"/>
              </a:buClr>
            </a:pPr>
            <a:r>
              <a:rPr lang="ar-OM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2022+</a:t>
            </a:r>
            <a:r>
              <a:rPr lang="ar-OM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 Tuning / RLHF </a:t>
            </a:r>
            <a:r>
              <a:rPr lang="ar-OM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و محبوبیت چت‌بات‌های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3017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C0FACA-BEEE-7DD9-2441-96D084CE4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235" y="345406"/>
            <a:ext cx="9528874" cy="1091279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789DF57-5793-8FF6-F8E8-D26552966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1612" y="1565787"/>
            <a:ext cx="4637486" cy="1992569"/>
          </a:xfrm>
        </p:spPr>
        <p:txBody>
          <a:bodyPr>
            <a:normAutofit/>
          </a:bodyPr>
          <a:lstStyle/>
          <a:p>
            <a:pPr algn="r" rtl="1">
              <a:buClr>
                <a:srgbClr val="C00000"/>
              </a:buClr>
            </a:pPr>
            <a:r>
              <a:rPr lang="ar-OM" sz="2000" b="1" dirty="0">
                <a:cs typeface="B Nazanin" panose="00000400000000000000" pitchFamily="2" charset="-78"/>
              </a:rPr>
              <a:t>ایده اصلی: </a:t>
            </a:r>
            <a:r>
              <a:rPr lang="ar-OM" sz="2000" dirty="0">
                <a:cs typeface="B Nazanin" panose="00000400000000000000" pitchFamily="2" charset="-78"/>
              </a:rPr>
              <a:t>دو شبکه در یک بازی</a:t>
            </a:r>
          </a:p>
          <a:p>
            <a:pPr algn="r" rtl="1">
              <a:buClr>
                <a:srgbClr val="C00000"/>
              </a:buClr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Generator</a:t>
            </a:r>
            <a:r>
              <a:rPr lang="fa-IR" sz="2000" b="1" dirty="0"/>
              <a:t>: </a:t>
            </a:r>
            <a:r>
              <a:rPr lang="ar-OM" sz="2000" dirty="0">
                <a:cs typeface="B Nazanin" panose="00000400000000000000" pitchFamily="2" charset="-78"/>
              </a:rPr>
              <a:t>تولید نمونه (مثلاً تصویر)</a:t>
            </a:r>
          </a:p>
          <a:p>
            <a:pPr algn="r" rtl="1">
              <a:buClr>
                <a:srgbClr val="C00000"/>
              </a:buClr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Discriminator</a:t>
            </a:r>
            <a:r>
              <a:rPr lang="fa-IR" sz="2000" b="1" dirty="0"/>
              <a:t>: </a:t>
            </a:r>
            <a:r>
              <a:rPr lang="ar-OM" sz="2000" dirty="0">
                <a:cs typeface="B Nazanin" panose="00000400000000000000" pitchFamily="2" charset="-78"/>
              </a:rPr>
              <a:t>تشخیص واقعی/جعلی</a:t>
            </a:r>
            <a:endParaRPr lang="fa-IR" sz="2000" dirty="0">
              <a:cs typeface="B Nazanin" panose="00000400000000000000" pitchFamily="2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6531C4-7804-0359-F178-21572CA57E65}"/>
              </a:ext>
            </a:extLst>
          </p:cNvPr>
          <p:cNvSpPr/>
          <p:nvPr/>
        </p:nvSpPr>
        <p:spPr>
          <a:xfrm>
            <a:off x="3122612" y="3670970"/>
            <a:ext cx="1600200" cy="533400"/>
          </a:xfrm>
          <a:prstGeom prst="rect">
            <a:avLst/>
          </a:prstGeom>
          <a:solidFill>
            <a:srgbClr val="FF4F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noise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BE5A3-6B28-C9D2-994D-1773DF13E740}"/>
              </a:ext>
            </a:extLst>
          </p:cNvPr>
          <p:cNvSpPr/>
          <p:nvPr/>
        </p:nvSpPr>
        <p:spPr>
          <a:xfrm>
            <a:off x="5382126" y="3670970"/>
            <a:ext cx="1600200" cy="533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Discriminator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6CCDF-D8AA-2D93-EE04-628B35C2FE6E}"/>
              </a:ext>
            </a:extLst>
          </p:cNvPr>
          <p:cNvSpPr/>
          <p:nvPr/>
        </p:nvSpPr>
        <p:spPr>
          <a:xfrm>
            <a:off x="5382126" y="4520535"/>
            <a:ext cx="1600200" cy="533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Fake image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EF80B2-4287-9307-802C-0A627F2596AC}"/>
              </a:ext>
            </a:extLst>
          </p:cNvPr>
          <p:cNvSpPr/>
          <p:nvPr/>
        </p:nvSpPr>
        <p:spPr>
          <a:xfrm>
            <a:off x="5399588" y="5389150"/>
            <a:ext cx="1582738" cy="533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image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C2755F-189B-74A0-1B77-25A2622B9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612" y="4896768"/>
            <a:ext cx="1600200" cy="1504032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04E8BF-C389-24AD-F428-CCD2FDC66B88}"/>
              </a:ext>
            </a:extLst>
          </p:cNvPr>
          <p:cNvCxnSpPr>
            <a:cxnSpLocks/>
            <a:stCxn id="12" idx="2"/>
            <a:endCxn id="12" idx="2"/>
          </p:cNvCxnSpPr>
          <p:nvPr/>
        </p:nvCxnSpPr>
        <p:spPr>
          <a:xfrm>
            <a:off x="3922712" y="4204370"/>
            <a:ext cx="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761543-F209-32A5-57F6-06D8148E0EF0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922712" y="4204370"/>
            <a:ext cx="0" cy="705768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9C55009-8801-F464-3F17-F10424B437C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4722812" y="3937670"/>
            <a:ext cx="659314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CD8568-BA84-44D1-50FF-69438ADD2EA4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6182226" y="4204370"/>
            <a:ext cx="0" cy="316165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4970206-85F9-8B79-9A0F-92B328499AE1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6182226" y="5053935"/>
            <a:ext cx="8731" cy="335215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2859F34-FC39-56F2-9DD8-59C5A3A3C3FA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4722812" y="5655850"/>
            <a:ext cx="676776" cy="6304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16FFB0D-AA29-AD99-1430-2DC39D178FE6}"/>
              </a:ext>
            </a:extLst>
          </p:cNvPr>
          <p:cNvCxnSpPr>
            <a:stCxn id="13" idx="3"/>
          </p:cNvCxnSpPr>
          <p:nvPr/>
        </p:nvCxnSpPr>
        <p:spPr>
          <a:xfrm>
            <a:off x="6982326" y="3937670"/>
            <a:ext cx="546643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Left Bracket 50">
            <a:extLst>
              <a:ext uri="{FF2B5EF4-FFF2-40B4-BE49-F238E27FC236}">
                <a16:creationId xmlns:a16="http://schemas.microsoft.com/office/drawing/2014/main" id="{3786A7DA-00A5-108D-A829-0BF50035616E}"/>
              </a:ext>
            </a:extLst>
          </p:cNvPr>
          <p:cNvSpPr/>
          <p:nvPr/>
        </p:nvSpPr>
        <p:spPr>
          <a:xfrm>
            <a:off x="7559781" y="3615655"/>
            <a:ext cx="389729" cy="2480171"/>
          </a:xfrm>
          <a:prstGeom prst="leftBracket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91F76B6-1465-EAD8-A675-DDEEF1F9909D}"/>
              </a:ext>
            </a:extLst>
          </p:cNvPr>
          <p:cNvSpPr/>
          <p:nvPr/>
        </p:nvSpPr>
        <p:spPr>
          <a:xfrm>
            <a:off x="7677003" y="3685710"/>
            <a:ext cx="1658938" cy="533400"/>
          </a:xfrm>
          <a:prstGeom prst="rect">
            <a:avLst/>
          </a:prstGeom>
          <a:solidFill>
            <a:srgbClr val="FFB7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6DB8CF-C13A-455F-34E5-3DC0B91AB783}"/>
              </a:ext>
            </a:extLst>
          </p:cNvPr>
          <p:cNvSpPr/>
          <p:nvPr/>
        </p:nvSpPr>
        <p:spPr>
          <a:xfrm>
            <a:off x="7668125" y="4527590"/>
            <a:ext cx="1658938" cy="533400"/>
          </a:xfrm>
          <a:prstGeom prst="rect">
            <a:avLst/>
          </a:prstGeom>
          <a:solidFill>
            <a:srgbClr val="FFB7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E8EBBF-C919-6F19-9409-6A45CF5262AD}"/>
              </a:ext>
            </a:extLst>
          </p:cNvPr>
          <p:cNvSpPr/>
          <p:nvPr/>
        </p:nvSpPr>
        <p:spPr>
          <a:xfrm>
            <a:off x="7659248" y="5389150"/>
            <a:ext cx="1676693" cy="533400"/>
          </a:xfrm>
          <a:prstGeom prst="rect">
            <a:avLst/>
          </a:prstGeom>
          <a:solidFill>
            <a:srgbClr val="FFB7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DDE4764-376C-092E-2B76-45C7DA74C0BA}"/>
              </a:ext>
            </a:extLst>
          </p:cNvPr>
          <p:cNvCxnSpPr>
            <a:cxnSpLocks/>
          </p:cNvCxnSpPr>
          <p:nvPr/>
        </p:nvCxnSpPr>
        <p:spPr>
          <a:xfrm flipV="1">
            <a:off x="8497595" y="5072065"/>
            <a:ext cx="0" cy="30601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B19333A-2DF7-8E30-88B2-5BC22E5B0CD2}"/>
              </a:ext>
            </a:extLst>
          </p:cNvPr>
          <p:cNvCxnSpPr>
            <a:cxnSpLocks/>
          </p:cNvCxnSpPr>
          <p:nvPr/>
        </p:nvCxnSpPr>
        <p:spPr>
          <a:xfrm flipV="1">
            <a:off x="8497595" y="4280570"/>
            <a:ext cx="0" cy="258095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1608A8A5-D674-30AF-AD89-F49CAFE060AC}"/>
              </a:ext>
            </a:extLst>
          </p:cNvPr>
          <p:cNvSpPr txBox="1">
            <a:spLocks/>
          </p:cNvSpPr>
          <p:nvPr/>
        </p:nvSpPr>
        <p:spPr>
          <a:xfrm>
            <a:off x="237726" y="1125078"/>
            <a:ext cx="6847286" cy="2307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8600" algn="l" defTabSz="914400" rtl="0" eaLnBrk="1" latinLnBrk="0" hangingPunct="1">
              <a:lnSpc>
                <a:spcPct val="90000"/>
              </a:lnSpc>
              <a:spcBef>
                <a:spcPts val="16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74520" indent="-228600" algn="l" defTabSz="914400" rtl="0" eaLnBrk="1" latinLnBrk="0" hangingPunct="1"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48840" indent="-228600" algn="l" defTabSz="914400" rtl="0" eaLnBrk="1" latinLnBrk="0" hangingPunct="1"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23160" indent="-228600" algn="l" defTabSz="914400" rtl="0" eaLnBrk="1" latinLnBrk="0" hangingPunct="1">
              <a:spcBef>
                <a:spcPts val="600"/>
              </a:spcBef>
              <a:buFont typeface="Euphemia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r" rtl="1">
              <a:buClr>
                <a:srgbClr val="C00000"/>
              </a:buClr>
            </a:pPr>
            <a:endParaRPr lang="ar-OM" sz="1800" dirty="0">
              <a:cs typeface="B Nazanin" panose="00000400000000000000" pitchFamily="2" charset="-78"/>
            </a:endParaRPr>
          </a:p>
          <a:p>
            <a:pPr algn="r" rtl="1">
              <a:buClr>
                <a:srgbClr val="C00000"/>
              </a:buClr>
            </a:pPr>
            <a:r>
              <a:rPr lang="ar-OM" sz="2000" b="1" dirty="0">
                <a:cs typeface="B Nazanin" panose="00000400000000000000" pitchFamily="2" charset="-78"/>
              </a:rPr>
              <a:t>هدف: </a:t>
            </a:r>
            <a:r>
              <a:rPr lang="ar-OM" sz="2000" dirty="0">
                <a:cs typeface="B Nazanin" panose="00000400000000000000" pitchFamily="2" charset="-78"/>
              </a:rPr>
              <a:t>تولید نمونه‌هایی که از داده واقعی قابل تشخیص نباشند</a:t>
            </a:r>
          </a:p>
          <a:p>
            <a:pPr algn="r" rtl="1">
              <a:buClr>
                <a:srgbClr val="C00000"/>
              </a:buClr>
            </a:pPr>
            <a:r>
              <a:rPr lang="ar-OM" sz="2000" b="1" dirty="0">
                <a:cs typeface="B Nazanin" panose="00000400000000000000" pitchFamily="2" charset="-78"/>
              </a:rPr>
              <a:t>چالش‌ها: </a:t>
            </a:r>
            <a:r>
              <a:rPr lang="ar-OM" sz="2000" dirty="0">
                <a:cs typeface="B Nazanin" panose="00000400000000000000" pitchFamily="2" charset="-78"/>
              </a:rPr>
              <a:t>ناپایداری آموزش</a:t>
            </a:r>
            <a:r>
              <a:rPr lang="ar-OM" sz="2000" dirty="0"/>
              <a:t>،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</a:t>
            </a:r>
            <a:r>
              <a:rPr lang="en-GB" sz="2000" dirty="0"/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Collapse</a:t>
            </a:r>
          </a:p>
          <a:p>
            <a:pPr algn="r" rtl="1">
              <a:buClr>
                <a:srgbClr val="C00000"/>
              </a:buClr>
            </a:pPr>
            <a:r>
              <a:rPr lang="ar-OM" sz="2000" b="1" dirty="0">
                <a:cs typeface="B Nazanin" panose="00000400000000000000" pitchFamily="2" charset="-78"/>
              </a:rPr>
              <a:t>کاربردها: </a:t>
            </a:r>
            <a:r>
              <a:rPr lang="ar-OM" sz="2000" dirty="0">
                <a:cs typeface="B Nazanin" panose="00000400000000000000" pitchFamily="2" charset="-78"/>
              </a:rPr>
              <a:t>تولید تصویر، افزایش داده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Augmentation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)،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Super-Resolution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3438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3A0A5CD-A229-308D-FE5B-D61D71F81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2812" y="838200"/>
            <a:ext cx="10363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Diffusion  </a:t>
            </a:r>
            <a:r>
              <a:rPr kumimoji="0" lang="ar-SA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چیست؟</a:t>
            </a:r>
            <a:r>
              <a:rPr kumimoji="0" lang="en-GB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Denoising Diffusion Models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6EF37-3B39-7D2A-84F5-8BD394FDA1B6}"/>
              </a:ext>
            </a:extLst>
          </p:cNvPr>
          <p:cNvSpPr txBox="1"/>
          <p:nvPr/>
        </p:nvSpPr>
        <p:spPr>
          <a:xfrm>
            <a:off x="303212" y="1981200"/>
            <a:ext cx="1097280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9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ar-OM" sz="2400" b="1" dirty="0">
                <a:cs typeface="B Nazanin" panose="00000400000000000000" pitchFamily="2" charset="-78"/>
              </a:rPr>
              <a:t>ایده اصلی: </a:t>
            </a:r>
            <a:r>
              <a:rPr lang="ar-OM" sz="2400" dirty="0">
                <a:cs typeface="B Nazanin" panose="00000400000000000000" pitchFamily="2" charset="-78"/>
              </a:rPr>
              <a:t>یادگیری «تولید با حذف نویز»</a:t>
            </a:r>
          </a:p>
          <a:p>
            <a:pPr marL="342900" indent="-342900" algn="r" rtl="1">
              <a:lnSpc>
                <a:spcPct val="9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ar-OM" sz="2400" dirty="0"/>
          </a:p>
          <a:p>
            <a:pPr marL="342900" indent="-342900" algn="r" rtl="1">
              <a:lnSpc>
                <a:spcPct val="9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ar-OM" sz="2400" b="1" dirty="0">
                <a:cs typeface="B Nazanin" panose="00000400000000000000" pitchFamily="2" charset="-78"/>
              </a:rPr>
              <a:t>فرآیند رو به جلو</a:t>
            </a:r>
            <a:r>
              <a:rPr lang="en-GB" sz="2400" b="1" dirty="0">
                <a:cs typeface="B Nazanin" panose="00000400000000000000" pitchFamily="2" charset="-78"/>
              </a:rPr>
              <a:t> </a:t>
            </a:r>
            <a:r>
              <a:rPr lang="en-GB" sz="2400" b="1" dirty="0"/>
              <a:t>:</a:t>
            </a:r>
            <a:r>
              <a:rPr lang="en-GB" sz="2400" b="1" dirty="0">
                <a:sym typeface="Wingdings" panose="05000000000000000000" pitchFamily="2" charset="2"/>
              </a:rPr>
              <a:t>(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ar-OM" sz="2400" dirty="0">
                <a:cs typeface="B Nazanin" panose="00000400000000000000" pitchFamily="2" charset="-78"/>
              </a:rPr>
              <a:t>افزودن نویز مرحله‌به‌مرحله تا داده تقریباً نویز خالص شود</a:t>
            </a:r>
          </a:p>
          <a:p>
            <a:pPr marL="342900" indent="-342900" algn="r" rtl="1">
              <a:lnSpc>
                <a:spcPct val="9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ar-OM" sz="2400" dirty="0"/>
          </a:p>
          <a:p>
            <a:pPr marL="342900" indent="-342900" algn="r" rtl="1">
              <a:lnSpc>
                <a:spcPct val="9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ar-OM" sz="2400" b="1" dirty="0">
                <a:cs typeface="B Nazanin" panose="00000400000000000000" pitchFamily="2" charset="-78"/>
              </a:rPr>
              <a:t>فرآیند معکوس</a:t>
            </a:r>
            <a:r>
              <a:rPr lang="ar-OM" sz="2400" b="1" dirty="0"/>
              <a:t> </a:t>
            </a:r>
            <a:r>
              <a:rPr lang="en-US" sz="2400" b="1" dirty="0"/>
              <a:t> :(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Reverse</a:t>
            </a:r>
            <a:r>
              <a:rPr lang="en-GB" sz="2000" b="1" dirty="0"/>
              <a:t> /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Denoising</a:t>
            </a:r>
            <a:r>
              <a:rPr lang="en-GB" sz="2400" b="1" dirty="0"/>
              <a:t>)</a:t>
            </a:r>
            <a:r>
              <a:rPr lang="ar-OM" sz="2400" dirty="0">
                <a:cs typeface="B Nazanin" panose="00000400000000000000" pitchFamily="2" charset="-78"/>
              </a:rPr>
              <a:t>مدل یاد می‌گیرد در هر گام نویز را حذف کند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Denoising</a:t>
            </a:r>
            <a:r>
              <a:rPr lang="en-GB" sz="2400" dirty="0"/>
              <a:t>)</a:t>
            </a:r>
          </a:p>
          <a:p>
            <a:pPr marL="342900" indent="-342900" algn="r" rtl="1">
              <a:lnSpc>
                <a:spcPct val="9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 algn="r" rtl="1">
              <a:lnSpc>
                <a:spcPct val="9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ar-OM" sz="2400" b="1" dirty="0">
                <a:cs typeface="B Nazanin" panose="00000400000000000000" pitchFamily="2" charset="-78"/>
              </a:rPr>
              <a:t>مزیت نسبت به </a:t>
            </a:r>
            <a:r>
              <a:rPr lang="en-GB" sz="2400" b="1" dirty="0">
                <a:cs typeface="B Nazanin" panose="00000400000000000000" pitchFamily="2" charset="-78"/>
              </a:rPr>
              <a:t> </a:t>
            </a:r>
            <a:r>
              <a:rPr lang="en-GB" sz="2400" b="1" dirty="0"/>
              <a:t>: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ar-OM" sz="2400" dirty="0">
                <a:cs typeface="B Nazanin" panose="00000400000000000000" pitchFamily="2" charset="-78"/>
              </a:rPr>
              <a:t>پایداری بهتر + کیفیت بالا</a:t>
            </a:r>
          </a:p>
          <a:p>
            <a:pPr marL="342900" indent="-342900" algn="r" rtl="1">
              <a:lnSpc>
                <a:spcPct val="9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ar-OM" sz="2400" dirty="0"/>
          </a:p>
          <a:p>
            <a:pPr marL="342900" indent="-342900" algn="r" rtl="1">
              <a:lnSpc>
                <a:spcPct val="9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ar-OM" sz="2400" b="1" dirty="0">
                <a:cs typeface="B Nazanin" panose="00000400000000000000" pitchFamily="2" charset="-78"/>
              </a:rPr>
              <a:t>ضعف:</a:t>
            </a:r>
            <a:r>
              <a:rPr lang="ar-OM" sz="2400" dirty="0">
                <a:cs typeface="B Nazanin" panose="00000400000000000000" pitchFamily="2" charset="-78"/>
              </a:rPr>
              <a:t> نمونه‌سازی کندتر (چندین گام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sampling</a:t>
            </a:r>
            <a:r>
              <a:rPr lang="fa-IR" sz="2400" dirty="0">
                <a:cs typeface="B Nazanin" panose="00000400000000000000" pitchFamily="2" charset="-78"/>
              </a:rPr>
              <a:t>)</a:t>
            </a:r>
            <a:endParaRPr lang="en-GB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78379680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89F6719-30B5-FFF5-03C8-BBDFE91A57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74493" y="591277"/>
            <a:ext cx="78398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fa-I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 </a:t>
            </a:r>
            <a:r>
              <a:rPr kumimoji="0" lang="ar-SA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فرآیند رو به جلو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(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 / Noising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669EAD-E8F6-2F21-9308-8A84C7F48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2" y="1447800"/>
            <a:ext cx="2305372" cy="35342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0968A2-6BEC-9F85-216B-55DDCFF6F4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812" y="1447094"/>
            <a:ext cx="1524213" cy="35342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3FFF3F-F209-4B92-D239-DA3F2EC11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653" y="1447094"/>
            <a:ext cx="1019317" cy="3515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A1A32F-D6D5-64BB-B300-208717F06F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480" y="1454714"/>
            <a:ext cx="1038370" cy="35075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E57807-1E18-E057-59D9-28B4AA0C83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612" y="1447094"/>
            <a:ext cx="1124107" cy="3515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43659C4-607D-E977-612D-A1D011D857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" t="-745" r="-708" b="745"/>
          <a:stretch>
            <a:fillRect/>
          </a:stretch>
        </p:blipFill>
        <p:spPr>
          <a:xfrm>
            <a:off x="9489373" y="1357550"/>
            <a:ext cx="2152950" cy="35819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39565925-C59C-5664-1E52-E07ADA16750A}"/>
              </a:ext>
            </a:extLst>
          </p:cNvPr>
          <p:cNvSpPr/>
          <p:nvPr/>
        </p:nvSpPr>
        <p:spPr>
          <a:xfrm>
            <a:off x="2989106" y="3078189"/>
            <a:ext cx="609600" cy="228600"/>
          </a:xfrm>
          <a:prstGeom prst="righ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8F8C863-B09E-4A97-692E-DA7810C1EB46}"/>
              </a:ext>
            </a:extLst>
          </p:cNvPr>
          <p:cNvSpPr/>
          <p:nvPr/>
        </p:nvSpPr>
        <p:spPr>
          <a:xfrm>
            <a:off x="4921826" y="3078189"/>
            <a:ext cx="609600" cy="228600"/>
          </a:xfrm>
          <a:prstGeom prst="righ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462D294-6A66-5596-5E01-7FF4375E4514}"/>
              </a:ext>
            </a:extLst>
          </p:cNvPr>
          <p:cNvSpPr/>
          <p:nvPr/>
        </p:nvSpPr>
        <p:spPr>
          <a:xfrm>
            <a:off x="6259062" y="3088990"/>
            <a:ext cx="609600" cy="228600"/>
          </a:xfrm>
          <a:prstGeom prst="righ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20C6F75-76E7-13AB-13A3-4FA8337240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4222" y="3094964"/>
            <a:ext cx="640135" cy="26215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1424D41-ED41-65C5-DC2E-B67C2D9A76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0990" y="3102779"/>
            <a:ext cx="640135" cy="26215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BFD1A39-9FC3-9322-B019-AA25FA930170}"/>
              </a:ext>
            </a:extLst>
          </p:cNvPr>
          <p:cNvSpPr txBox="1"/>
          <p:nvPr/>
        </p:nvSpPr>
        <p:spPr>
          <a:xfrm>
            <a:off x="1401210" y="5551639"/>
            <a:ext cx="9144000" cy="766364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pPr algn="ctr" rtl="1">
              <a:lnSpc>
                <a:spcPct val="90000"/>
              </a:lnSpc>
            </a:pPr>
            <a:r>
              <a:rPr lang="ar-OM" sz="2400" dirty="0">
                <a:solidFill>
                  <a:schemeClr val="bg1"/>
                </a:solidFill>
                <a:cs typeface="B Nazanin" panose="00000400000000000000" pitchFamily="2" charset="-78"/>
              </a:rPr>
              <a:t>هدف:</a:t>
            </a:r>
            <a:endParaRPr lang="fa-IR" sz="2400" dirty="0">
              <a:solidFill>
                <a:schemeClr val="bg1"/>
              </a:solidFill>
              <a:cs typeface="B Nazanin" panose="00000400000000000000" pitchFamily="2" charset="-78"/>
            </a:endParaRPr>
          </a:p>
          <a:p>
            <a:pPr algn="ctr" rtl="1">
              <a:lnSpc>
                <a:spcPct val="90000"/>
              </a:lnSpc>
            </a:pPr>
            <a:r>
              <a:rPr lang="ar-OM" sz="2400" dirty="0">
                <a:solidFill>
                  <a:schemeClr val="bg1"/>
                </a:solidFill>
                <a:cs typeface="B Nazanin" panose="00000400000000000000" pitchFamily="2" charset="-78"/>
              </a:rPr>
              <a:t>تبدیل داده به نویز گاوسی تا مرحله </a:t>
            </a:r>
            <a:r>
              <a:rPr lang="en-GB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GB" sz="2400" dirty="0">
                <a:solidFill>
                  <a:schemeClr val="bg1"/>
                </a:solidFill>
                <a:cs typeface="B Nazanin" panose="00000400000000000000" pitchFamily="2" charset="-78"/>
              </a:rPr>
              <a:t>؛ </a:t>
            </a:r>
            <a:r>
              <a:rPr lang="ar-OM" sz="2400" dirty="0">
                <a:solidFill>
                  <a:schemeClr val="bg1"/>
                </a:solidFill>
                <a:cs typeface="B Nazanin" panose="00000400000000000000" pitchFamily="2" charset="-78"/>
              </a:rPr>
              <a:t>سپس یادگیری معکوس </a:t>
            </a:r>
            <a:r>
              <a:rPr lang="en-GB" sz="2400" dirty="0">
                <a:solidFill>
                  <a:schemeClr val="bg1"/>
                </a:solidFill>
                <a:cs typeface="B Nazanin" panose="00000400000000000000" pitchFamily="2" charset="-78"/>
              </a:rPr>
              <a:t> (</a:t>
            </a:r>
            <a:r>
              <a:rPr lang="en-GB" sz="2000" dirty="0">
                <a:solidFill>
                  <a:schemeClr val="bg1"/>
                </a:solidFill>
                <a:cs typeface="B Nazanin" panose="00000400000000000000" pitchFamily="2" charset="-78"/>
              </a:rPr>
              <a:t>denoising</a:t>
            </a:r>
            <a:r>
              <a:rPr lang="en-GB" sz="24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7476530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C4906F-F11B-ECE8-6A10-3BBA475F7EA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C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" t="24245" r="-1172" b="23641"/>
          <a:stretch>
            <a:fillRect/>
          </a:stretch>
        </p:blipFill>
        <p:spPr>
          <a:xfrm>
            <a:off x="379412" y="1447800"/>
            <a:ext cx="11704343" cy="33528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10BD4DF-0EC5-01BD-3779-50F53279B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975" y="366343"/>
            <a:ext cx="79648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a-IR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 </a:t>
            </a:r>
            <a:r>
              <a:rPr kumimoji="0" lang="ar-SA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فرآیند</a:t>
            </a:r>
            <a:r>
              <a:rPr kumimoji="0" lang="ar-SA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معکوس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(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Reverse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/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Denoising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2">
                <a:extLst>
                  <a:ext uri="{FF2B5EF4-FFF2-40B4-BE49-F238E27FC236}">
                    <a16:creationId xmlns:a16="http://schemas.microsoft.com/office/drawing/2014/main" id="{EFD25C89-6526-7A28-5032-6C8BC6449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333" y="5179367"/>
                <a:ext cx="8760155" cy="461665"/>
              </a:xfrm>
              <a:prstGeom prst="rect">
                <a:avLst/>
              </a:prstGeom>
              <a:solidFill>
                <a:srgbClr val="FFC000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r" defTabSz="914400" rtl="1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ar-SA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B Nazanin" panose="00000400000000000000" pitchFamily="2" charset="-78"/>
                  </a:rPr>
                  <a:t>در هر گام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،</a:t>
                </a:r>
                <a:r>
                  <a:rPr kumimoji="0" lang="fa-I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U-Net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fa-I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ar-SA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B Nazanin" panose="00000400000000000000" pitchFamily="2" charset="-78"/>
                  </a:rPr>
                  <a:t>نویز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ε </a:t>
                </a:r>
                <a:r>
                  <a:rPr kumimoji="0" lang="ar-SA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B Nazanin" panose="00000400000000000000" pitchFamily="2" charset="-78"/>
                  </a:rPr>
                  <a:t>را پیش‌بینی می‌کند و با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Scheduler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ar-SA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از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​ </a:t>
                </a:r>
                <a:r>
                  <a:rPr kumimoji="0" lang="ar-SA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B Nazanin" panose="00000400000000000000" pitchFamily="2" charset="-78"/>
                  </a:rPr>
                  <a:t>به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alt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​ </a:t>
                </a:r>
                <a:r>
                  <a:rPr kumimoji="0" lang="ar-SA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B Nazanin" panose="00000400000000000000" pitchFamily="2" charset="-78"/>
                  </a:rPr>
                  <a:t>می‌رویم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B Nazanin" panose="00000400000000000000" pitchFamily="2" charset="-78"/>
                </a:endParaRPr>
              </a:p>
            </p:txBody>
          </p:sp>
        </mc:Choice>
        <mc:Fallback>
          <p:sp>
            <p:nvSpPr>
              <p:cNvPr id="10" name="Rectangle 2">
                <a:extLst>
                  <a:ext uri="{FF2B5EF4-FFF2-40B4-BE49-F238E27FC236}">
                    <a16:creationId xmlns:a16="http://schemas.microsoft.com/office/drawing/2014/main" id="{EFD25C89-6526-7A28-5032-6C8BC6449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333" y="5179367"/>
                <a:ext cx="8760155" cy="461665"/>
              </a:xfrm>
              <a:prstGeom prst="rect">
                <a:avLst/>
              </a:prstGeom>
              <a:blipFill>
                <a:blip r:embed="rId3"/>
                <a:stretch>
                  <a:fillRect t="-18667" r="-1113" b="-34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03152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94012" y="319241"/>
            <a:ext cx="8534400" cy="838200"/>
          </a:xfrm>
        </p:spPr>
        <p:txBody>
          <a:bodyPr rtlCol="0"/>
          <a:lstStyle/>
          <a:p>
            <a:pPr algn="r" rtl="1"/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Stable Diffusion </a:t>
            </a:r>
            <a:r>
              <a:rPr lang="ar-OM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چیست</a:t>
            </a:r>
            <a:r>
              <a:rPr lang="ar-OM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؟ </a:t>
            </a: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Latent Diffusion)</a:t>
            </a:r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98612" y="1295400"/>
            <a:ext cx="9829800" cy="5029200"/>
          </a:xfrm>
        </p:spPr>
        <p:txBody>
          <a:bodyPr rtlCol="0">
            <a:normAutofit/>
          </a:bodyPr>
          <a:lstStyle/>
          <a:p>
            <a:pPr marL="285750" indent="-285750" algn="r" rtl="1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ar-OM" sz="2200" dirty="0">
                <a:cs typeface="B Nazanin" panose="00000400000000000000" pitchFamily="2" charset="-78"/>
              </a:rPr>
              <a:t>مدل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a-I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OM" sz="2200" dirty="0">
                <a:cs typeface="B Nazanin" panose="00000400000000000000" pitchFamily="2" charset="-78"/>
              </a:rPr>
              <a:t>بر پایه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r" rtl="1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ar-OM" sz="2200" dirty="0">
                <a:cs typeface="B Nazanin" panose="00000400000000000000" pitchFamily="2" charset="-78"/>
              </a:rPr>
              <a:t>به‌جای</a:t>
            </a:r>
            <a:r>
              <a:rPr lang="fa-IR" sz="2200" dirty="0">
                <a:cs typeface="B Nazanin" panose="00000400000000000000" pitchFamily="2" charset="-78"/>
              </a:rPr>
              <a:t> فضای </a:t>
            </a:r>
            <a:r>
              <a:rPr lang="ar-OM" sz="2200" dirty="0">
                <a:cs typeface="B Nazanin" panose="00000400000000000000" pitchFamily="2" charset="-78"/>
              </a:rPr>
              <a:t>پیکسل</a:t>
            </a:r>
            <a:r>
              <a:rPr lang="fa-IR" sz="2200" dirty="0">
                <a:cs typeface="B Nazanin" panose="00000400000000000000" pitchFamily="2" charset="-78"/>
              </a:rPr>
              <a:t>ی</a:t>
            </a:r>
            <a:r>
              <a:rPr lang="ar-OM" sz="2200" dirty="0">
                <a:cs typeface="B Nazanin" panose="00000400000000000000" pitchFamily="2" charset="-78"/>
              </a:rPr>
              <a:t>، در فضای نهفته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Latent</a:t>
            </a:r>
            <a:r>
              <a:rPr lang="en-US" sz="2200" dirty="0"/>
              <a:t>) </a:t>
            </a:r>
            <a:r>
              <a:rPr lang="fa-IR" sz="2200" dirty="0"/>
              <a:t>) </a:t>
            </a:r>
            <a:r>
              <a:rPr lang="ar-OM" sz="2200" dirty="0">
                <a:cs typeface="B Nazanin" panose="00000400000000000000" pitchFamily="2" charset="-78"/>
              </a:rPr>
              <a:t>نمونه‌سازی</a:t>
            </a:r>
            <a:r>
              <a:rPr lang="ar-OM" sz="2200" dirty="0"/>
              <a:t> می‌کند ⇒ </a:t>
            </a:r>
            <a:r>
              <a:rPr lang="ar-OM" sz="2200" dirty="0">
                <a:cs typeface="B Nazanin" panose="00000400000000000000" pitchFamily="2" charset="-78"/>
              </a:rPr>
              <a:t>سریع‌تر</a:t>
            </a:r>
          </a:p>
          <a:p>
            <a:pPr marL="285750" indent="-285750" algn="r" rtl="1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اجزا: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Encoder (CLIP) + U-Net Denoiser + Scheduler + VAE Decoder</a:t>
            </a:r>
          </a:p>
          <a:p>
            <a:pPr marL="285750" indent="-285750" algn="r" rtl="1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ar-OM" sz="2200" dirty="0">
                <a:cs typeface="B Nazanin" panose="00000400000000000000" pitchFamily="2" charset="-78"/>
              </a:rPr>
              <a:t>شرط‌گذاری متن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64B4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64B4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kumimoji="0" lang="fa-IR" sz="2200" b="0" i="0" u="none" strike="noStrike" kern="1200" cap="none" spc="0" normalizeH="0" baseline="0" noProof="0" dirty="0">
                <a:ln>
                  <a:noFill/>
                </a:ln>
                <a:solidFill>
                  <a:srgbClr val="164B4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ar-OM" sz="2200" dirty="0"/>
              <a:t>: </a:t>
            </a:r>
            <a:r>
              <a:rPr lang="fa-IR" sz="2200" dirty="0">
                <a:cs typeface="B Nazanin" panose="00000400000000000000" pitchFamily="2" charset="-78"/>
              </a:rPr>
              <a:t>بردار</a:t>
            </a:r>
            <a:r>
              <a:rPr lang="fa-IR" sz="2200" dirty="0"/>
              <a:t> </a:t>
            </a:r>
            <a:r>
              <a:rPr lang="fa-IR" sz="2200" dirty="0">
                <a:cs typeface="B Nazanin" panose="00000400000000000000" pitchFamily="2" charset="-78"/>
              </a:rPr>
              <a:t>تعبیه</a:t>
            </a:r>
            <a:r>
              <a:rPr lang="fa-IR" sz="2200" dirty="0"/>
              <a:t> (</a:t>
            </a:r>
            <a:r>
              <a:rPr lang="en-GB" sz="2200" dirty="0"/>
              <a:t>(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</a:t>
            </a:r>
            <a:r>
              <a:rPr lang="ar-OM" sz="2200" dirty="0">
                <a:cs typeface="B Nazanin" panose="00000400000000000000" pitchFamily="2" charset="-78"/>
              </a:rPr>
              <a:t>متن</a:t>
            </a:r>
            <a:r>
              <a:rPr lang="ar-OM" sz="2200" dirty="0"/>
              <a:t> </a:t>
            </a:r>
            <a:r>
              <a:rPr lang="ar-OM" sz="2200" dirty="0">
                <a:cs typeface="B Nazanin" panose="00000400000000000000" pitchFamily="2" charset="-78"/>
              </a:rPr>
              <a:t>به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</a:t>
            </a:r>
            <a:r>
              <a:rPr lang="fa-I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OM" sz="2200" dirty="0">
                <a:cs typeface="B Nazanin" panose="00000400000000000000" pitchFamily="2" charset="-78"/>
              </a:rPr>
              <a:t>داده</a:t>
            </a:r>
            <a:r>
              <a:rPr lang="ar-OM" sz="2200" dirty="0"/>
              <a:t> </a:t>
            </a:r>
            <a:r>
              <a:rPr lang="ar-OM" sz="2200" dirty="0">
                <a:cs typeface="B Nazanin" panose="00000400000000000000" pitchFamily="2" charset="-78"/>
              </a:rPr>
              <a:t>می‌شود</a:t>
            </a:r>
            <a:r>
              <a:rPr lang="fa-IR" sz="2200" dirty="0">
                <a:cs typeface="B Nazanin" panose="00000400000000000000" pitchFamily="2" charset="-78"/>
              </a:rPr>
              <a:t>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3F6DDB-3E28-E050-73EC-0965A3D584B4}"/>
              </a:ext>
            </a:extLst>
          </p:cNvPr>
          <p:cNvSpPr/>
          <p:nvPr/>
        </p:nvSpPr>
        <p:spPr>
          <a:xfrm>
            <a:off x="816531" y="3924299"/>
            <a:ext cx="1981200" cy="762000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GB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r>
              <a:rPr lang="en-GB" sz="2000" b="1" dirty="0">
                <a:solidFill>
                  <a:schemeClr val="bg1"/>
                </a:solidFill>
              </a:rPr>
              <a:t> </a:t>
            </a:r>
            <a:r>
              <a:rPr lang="fa-IR" sz="2000" b="1" dirty="0">
                <a:solidFill>
                  <a:schemeClr val="bg1"/>
                </a:solidFill>
              </a:rPr>
              <a:t>(</a:t>
            </a:r>
            <a:r>
              <a:rPr lang="ar-OM" sz="2000" b="1" dirty="0">
                <a:solidFill>
                  <a:schemeClr val="bg1"/>
                </a:solidFill>
                <a:cs typeface="B Nazanin" panose="00000400000000000000" pitchFamily="2" charset="-78"/>
              </a:rPr>
              <a:t>متن</a:t>
            </a:r>
            <a:r>
              <a:rPr lang="ar-OM" sz="2000" b="1" dirty="0">
                <a:solidFill>
                  <a:schemeClr val="bg1"/>
                </a:solidFill>
              </a:rPr>
              <a:t>)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7052E4-F019-DB68-3EE3-CAD58B63B747}"/>
              </a:ext>
            </a:extLst>
          </p:cNvPr>
          <p:cNvSpPr/>
          <p:nvPr/>
        </p:nvSpPr>
        <p:spPr>
          <a:xfrm>
            <a:off x="816531" y="4686299"/>
            <a:ext cx="1981200" cy="129540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bg1"/>
                </a:solidFill>
                <a:cs typeface="B Nazanin" panose="00000400000000000000" pitchFamily="2" charset="-78"/>
              </a:rPr>
              <a:t>یک طبیعت زیبا در کنار دریاچه</a:t>
            </a:r>
            <a:endParaRPr lang="en-GB" sz="2000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C9C189-2E6E-35D9-DB45-E74FE01AED24}"/>
              </a:ext>
            </a:extLst>
          </p:cNvPr>
          <p:cNvSpPr/>
          <p:nvPr/>
        </p:nvSpPr>
        <p:spPr>
          <a:xfrm>
            <a:off x="3273701" y="4686299"/>
            <a:ext cx="2057400" cy="838200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 Denoiser + Scheduler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D85B57-84E4-77D9-8CD6-A6748A800778}"/>
              </a:ext>
            </a:extLst>
          </p:cNvPr>
          <p:cNvSpPr/>
          <p:nvPr/>
        </p:nvSpPr>
        <p:spPr>
          <a:xfrm>
            <a:off x="5766266" y="4781549"/>
            <a:ext cx="1847049" cy="647700"/>
          </a:xfrm>
          <a:prstGeom prst="rect">
            <a:avLst/>
          </a:prstGeom>
          <a:solidFill>
            <a:srgbClr val="FF4F4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E60EF9-96C4-4DE6-C20D-74E93DBEDC2D}"/>
              </a:ext>
            </a:extLst>
          </p:cNvPr>
          <p:cNvSpPr/>
          <p:nvPr/>
        </p:nvSpPr>
        <p:spPr>
          <a:xfrm>
            <a:off x="7913553" y="4781549"/>
            <a:ext cx="1622234" cy="647700"/>
          </a:xfrm>
          <a:prstGeom prst="rect">
            <a:avLst/>
          </a:prstGeom>
          <a:solidFill>
            <a:srgbClr val="FF4F4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VAE</a:t>
            </a:r>
            <a:r>
              <a:rPr lang="en-GB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E988B-F1D7-15E4-CF13-0B140F0D8CF7}"/>
              </a:ext>
            </a:extLst>
          </p:cNvPr>
          <p:cNvSpPr/>
          <p:nvPr/>
        </p:nvSpPr>
        <p:spPr>
          <a:xfrm>
            <a:off x="2321857" y="6042539"/>
            <a:ext cx="3938513" cy="609600"/>
          </a:xfrm>
          <a:prstGeom prst="rect">
            <a:avLst/>
          </a:prstGeom>
          <a:solidFill>
            <a:srgbClr val="FFB7B7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3326AB-E1FF-259D-0859-E4AE92941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943" y="3505200"/>
            <a:ext cx="2305372" cy="2890837"/>
          </a:xfrm>
          <a:prstGeom prst="rect">
            <a:avLst/>
          </a:prstGeom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854778D-3DA4-90B0-15E5-5D58884A4DA2}"/>
              </a:ext>
            </a:extLst>
          </p:cNvPr>
          <p:cNvCxnSpPr>
            <a:cxnSpLocks/>
            <a:stCxn id="5" idx="1"/>
            <a:endCxn id="10" idx="1"/>
          </p:cNvCxnSpPr>
          <p:nvPr/>
        </p:nvCxnSpPr>
        <p:spPr>
          <a:xfrm rot="10800000" flipH="1" flipV="1">
            <a:off x="816531" y="5333999"/>
            <a:ext cx="1505326" cy="1013340"/>
          </a:xfrm>
          <a:prstGeom prst="bentConnector3">
            <a:avLst>
              <a:gd name="adj1" fmla="val -15186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5BA0A49B-704B-DBB7-8293-8F2615A0019F}"/>
              </a:ext>
            </a:extLst>
          </p:cNvPr>
          <p:cNvCxnSpPr>
            <a:cxnSpLocks/>
            <a:stCxn id="2" idx="0"/>
            <a:endCxn id="20" idx="1"/>
          </p:cNvCxnSpPr>
          <p:nvPr/>
        </p:nvCxnSpPr>
        <p:spPr>
          <a:xfrm rot="16200000" flipH="1">
            <a:off x="2716114" y="3015316"/>
            <a:ext cx="88806" cy="1906773"/>
          </a:xfrm>
          <a:prstGeom prst="bentConnector3">
            <a:avLst>
              <a:gd name="adj1" fmla="val -257415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ightning Bolt 19">
            <a:extLst>
              <a:ext uri="{FF2B5EF4-FFF2-40B4-BE49-F238E27FC236}">
                <a16:creationId xmlns:a16="http://schemas.microsoft.com/office/drawing/2014/main" id="{A3CDACCE-DD2C-856E-B36A-A8EF600D87CE}"/>
              </a:ext>
            </a:extLst>
          </p:cNvPr>
          <p:cNvSpPr/>
          <p:nvPr/>
        </p:nvSpPr>
        <p:spPr>
          <a:xfrm>
            <a:off x="3713904" y="3950493"/>
            <a:ext cx="381000" cy="347663"/>
          </a:xfrm>
          <a:prstGeom prst="lightningBol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bg1"/>
              </a:solidFill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0C91A4A-EF6D-7B7D-BDE5-467977BE79A4}"/>
              </a:ext>
            </a:extLst>
          </p:cNvPr>
          <p:cNvCxnSpPr>
            <a:cxnSpLocks/>
          </p:cNvCxnSpPr>
          <p:nvPr/>
        </p:nvCxnSpPr>
        <p:spPr>
          <a:xfrm>
            <a:off x="3944092" y="4055498"/>
            <a:ext cx="358309" cy="626039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30D6A9A-A684-A32A-7BDC-ACC02AFE4920}"/>
              </a:ext>
            </a:extLst>
          </p:cNvPr>
          <p:cNvCxnSpPr>
            <a:stCxn id="5" idx="3"/>
          </p:cNvCxnSpPr>
          <p:nvPr/>
        </p:nvCxnSpPr>
        <p:spPr>
          <a:xfrm>
            <a:off x="2797731" y="5333999"/>
            <a:ext cx="47597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7B2262B-37CD-56A3-8942-61B359CAE65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331101" y="5105399"/>
            <a:ext cx="43516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1D40CDA-68D0-58CF-FF22-6A711F7C9690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613315" y="5105399"/>
            <a:ext cx="3002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78299E-5EF9-2B47-C5D7-BDBB6EF77A45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9535787" y="5105399"/>
            <a:ext cx="29415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C488420-519B-F0DC-171B-F139651B92DF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291114" y="5524499"/>
            <a:ext cx="11287" cy="5180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DE2B3E4-8117-3C23-123D-20F974CCCCD2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6260370" y="5788817"/>
            <a:ext cx="3516106" cy="558522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angle 1">
                <a:extLst>
                  <a:ext uri="{FF2B5EF4-FFF2-40B4-BE49-F238E27FC236}">
                    <a16:creationId xmlns:a16="http://schemas.microsoft.com/office/drawing/2014/main" id="{1F17F345-CF9A-EF4E-08AF-A35FF6E19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1950" y="3833366"/>
                <a:ext cx="2554610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1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Noisy Latent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a-IR" altLang="en-US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fa-IR" altLang="en-US" sz="1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kumimoji="0" lang="fa-IR" altLang="en-US" sz="1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</m:sSub>
                  </m:oMath>
                </a14:m>
                <a:r>
                  <a:rPr kumimoji="0" lang="fa-IR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fa-IR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Arial" panose="020B0604020202020204" pitchFamily="34" charset="0"/>
                  </a:rPr>
                  <a:t>(</a:t>
                </a:r>
                <a:r>
                  <a:rPr kumimoji="0" lang="ar-SA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B Nazanin" panose="00000400000000000000" pitchFamily="2" charset="-78"/>
                  </a:rPr>
                  <a:t>ورودی نویزی</a:t>
                </a:r>
                <a:r>
                  <a:rPr kumimoji="0" lang="fa-IR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3" name="Rectangle 1">
                <a:extLst>
                  <a:ext uri="{FF2B5EF4-FFF2-40B4-BE49-F238E27FC236}">
                    <a16:creationId xmlns:a16="http://schemas.microsoft.com/office/drawing/2014/main" id="{1F17F345-CF9A-EF4E-08AF-A35FF6E196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1950" y="3833366"/>
                <a:ext cx="2554610" cy="338554"/>
              </a:xfrm>
              <a:prstGeom prst="rect">
                <a:avLst/>
              </a:prstGeom>
              <a:blipFill>
                <a:blip r:embed="rId4"/>
                <a:stretch>
                  <a:fillRect l="-1193" t="-12727" r="-716" b="-2727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3">
            <a:extLst>
              <a:ext uri="{FF2B5EF4-FFF2-40B4-BE49-F238E27FC236}">
                <a16:creationId xmlns:a16="http://schemas.microsoft.com/office/drawing/2014/main" id="{7F9856B0-A391-9B51-0D1C-F46BE540C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5323" y="6142014"/>
            <a:ext cx="3570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Encoder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CLIP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Text Embedding (c)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Rectangle 6">
                <a:extLst>
                  <a:ext uri="{FF2B5EF4-FFF2-40B4-BE49-F238E27FC236}">
                    <a16:creationId xmlns:a16="http://schemas.microsoft.com/office/drawing/2014/main" id="{BD100060-DC13-FC7F-314E-9A23DA916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3689" y="4916834"/>
                <a:ext cx="2611584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Denoised Latent</a:t>
                </a:r>
                <a:r>
                  <a:rPr kumimoji="0" lang="fa-IR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600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600" b="1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kumimoji="0" lang="en-US" altLang="en-US" sz="1600" b="1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6" name="Rectangle 6">
                <a:extLst>
                  <a:ext uri="{FF2B5EF4-FFF2-40B4-BE49-F238E27FC236}">
                    <a16:creationId xmlns:a16="http://schemas.microsoft.com/office/drawing/2014/main" id="{BD100060-DC13-FC7F-314E-9A23DA916A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3689" y="4916834"/>
                <a:ext cx="2611584" cy="338554"/>
              </a:xfrm>
              <a:prstGeom prst="rect">
                <a:avLst/>
              </a:prstGeom>
              <a:blipFill>
                <a:blip r:embed="rId5"/>
                <a:stretch>
                  <a:fillRect l="-1166" t="-5455" b="-2363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08831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0412" y="1905000"/>
            <a:ext cx="10668000" cy="3655743"/>
          </a:xfrm>
        </p:spPr>
        <p:txBody>
          <a:bodyPr rtlCol="0">
            <a:normAutofit/>
          </a:bodyPr>
          <a:lstStyle/>
          <a:p>
            <a:pPr algn="r" rtl="1">
              <a:buClr>
                <a:srgbClr val="C00000"/>
              </a:buCl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 </a:t>
            </a:r>
            <a:r>
              <a:rPr lang="ar-OM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در فضای نهفته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(Latent) </a:t>
            </a:r>
            <a:r>
              <a:rPr lang="ar-OM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انجام می‌شود، نه در فضای پیکسلی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Pixel space)</a:t>
            </a:r>
            <a:r>
              <a:rPr lang="fa-I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buClr>
                <a:srgbClr val="C00000"/>
              </a:buClr>
            </a:pPr>
            <a:r>
              <a:rPr lang="ar-OM" sz="2000" dirty="0">
                <a:cs typeface="B Nazanin" panose="00000400000000000000" pitchFamily="2" charset="-78"/>
              </a:rPr>
              <a:t>ابعا</a:t>
            </a:r>
            <a:r>
              <a:rPr lang="fa-IR" sz="2000" dirty="0">
                <a:cs typeface="B Nazanin" panose="00000400000000000000" pitchFamily="2" charset="-78"/>
              </a:rPr>
              <a:t>د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Latent</a:t>
            </a:r>
            <a:r>
              <a:rPr lang="en-GB" sz="20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ar-OM" sz="2000" dirty="0">
                <a:cs typeface="B Nazanin" panose="00000400000000000000" pitchFamily="2" charset="-78"/>
              </a:rPr>
              <a:t>خیلی کوچک‌تر است ⇒ تعداد عملیات در هر گام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denoising</a:t>
            </a:r>
            <a:r>
              <a:rPr lang="en-GB" sz="20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ar-OM" sz="2000" dirty="0">
                <a:cs typeface="B Nazanin" panose="00000400000000000000" pitchFamily="2" charset="-78"/>
              </a:rPr>
              <a:t>کمتر ⇒ سریع‌ترفقط</a:t>
            </a:r>
            <a:endParaRPr lang="fa-IR" sz="2000" dirty="0">
              <a:cs typeface="B Nazanin" panose="00000400000000000000" pitchFamily="2" charset="-78"/>
            </a:endParaRPr>
          </a:p>
          <a:p>
            <a:pPr algn="r" rtl="1">
              <a:buClr>
                <a:srgbClr val="C00000"/>
              </a:buClr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VAE Decoder </a:t>
            </a:r>
            <a:r>
              <a:rPr lang="fa-I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OM" sz="2000" dirty="0">
                <a:cs typeface="B Nazanin" panose="00000400000000000000" pitchFamily="2" charset="-78"/>
              </a:rPr>
              <a:t>فقط در انتها اجرا می‌شود (برای تبدیل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latent </a:t>
            </a:r>
            <a:r>
              <a:rPr lang="fa-IR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ب</a:t>
            </a:r>
            <a:r>
              <a:rPr lang="ar-OM" sz="2000" dirty="0">
                <a:cs typeface="B Nazanin" panose="00000400000000000000" pitchFamily="2" charset="-78"/>
              </a:rPr>
              <a:t>ه تصویر).</a:t>
            </a:r>
            <a:endParaRPr lang="fa-IR" sz="2000" dirty="0">
              <a:cs typeface="B Nazanin" panose="00000400000000000000" pitchFamily="2" charset="-78"/>
            </a:endParaRPr>
          </a:p>
          <a:p>
            <a:pPr algn="r" rtl="1">
              <a:buClr>
                <a:srgbClr val="C00000"/>
              </a:buClr>
            </a:pPr>
            <a:r>
              <a:rPr lang="ar-OM" sz="2000" dirty="0">
                <a:cs typeface="B Nazanin" panose="00000400000000000000" pitchFamily="2" charset="-78"/>
              </a:rPr>
              <a:t>(در تولید از نویز،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</a:t>
            </a:r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ar-OM" sz="2000" dirty="0">
                <a:cs typeface="B Nazanin" panose="00000400000000000000" pitchFamily="2" charset="-78"/>
              </a:rPr>
              <a:t>نداریم؛ د</a:t>
            </a:r>
            <a:r>
              <a:rPr lang="fa-IR" sz="2000" dirty="0">
                <a:cs typeface="B Nazanin" panose="00000400000000000000" pitchFamily="2" charset="-78"/>
              </a:rPr>
              <a:t>ر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img2img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ar-OM" sz="2000" dirty="0">
                <a:cs typeface="B Nazanin" panose="00000400000000000000" pitchFamily="2" charset="-78"/>
              </a:rPr>
              <a:t>داریم)</a:t>
            </a:r>
            <a:endParaRPr lang="fa-IR" sz="2000" dirty="0">
              <a:cs typeface="B Nazanin" panose="00000400000000000000" pitchFamily="2" charset="-78"/>
            </a:endParaRPr>
          </a:p>
          <a:p>
            <a:pPr algn="r" rtl="1">
              <a:buClr>
                <a:srgbClr val="C00000"/>
              </a:buClr>
            </a:pPr>
            <a:r>
              <a:rPr lang="ar-OM" sz="2000" dirty="0">
                <a:cs typeface="B Nazanin" panose="00000400000000000000" pitchFamily="2" charset="-78"/>
              </a:rPr>
              <a:t>مثال: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512</a:t>
            </a:r>
            <a:r>
              <a:rPr lang="ar-OM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512</a:t>
            </a:r>
            <a:r>
              <a:rPr lang="ar-OM" sz="2000" dirty="0">
                <a:cs typeface="B Nazanin" panose="00000400000000000000" pitchFamily="2" charset="-78"/>
              </a:rPr>
              <a:t> پیکسل ≈ 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262K</a:t>
            </a:r>
            <a:r>
              <a:rPr lang="ar-OM" sz="2000" dirty="0">
                <a:cs typeface="B Nazanin" panose="00000400000000000000" pitchFamily="2" charset="-78"/>
              </a:rPr>
              <a:t>مقدار، ولی 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Latent</a:t>
            </a:r>
            <a:r>
              <a:rPr lang="ar-OM" sz="2000" dirty="0">
                <a:cs typeface="B Nazanin" panose="00000400000000000000" pitchFamily="2" charset="-78"/>
              </a:rPr>
              <a:t>معمولاً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</a:t>
            </a:r>
            <a:r>
              <a:rPr lang="ar-OM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</a:t>
            </a:r>
            <a:r>
              <a:rPr lang="ar-OM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ar-OM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≈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16K</a:t>
            </a:r>
            <a:r>
              <a:rPr lang="ar-OM" sz="2000" dirty="0">
                <a:cs typeface="B Nazanin" panose="00000400000000000000" pitchFamily="2" charset="-78"/>
              </a:rPr>
              <a:t>حدوداً </a:t>
            </a:r>
            <a:r>
              <a:rPr lang="ar-OM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ar-OM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 </a:t>
            </a:r>
            <a:r>
              <a:rPr lang="ar-OM" sz="2000" dirty="0">
                <a:cs typeface="B Nazanin" panose="00000400000000000000" pitchFamily="2" charset="-78"/>
              </a:rPr>
              <a:t>کوچک‌تر</a:t>
            </a:r>
            <a:endParaRPr lang="en-US" sz="2000" dirty="0">
              <a:cs typeface="B Nazanin" panose="00000400000000000000" pitchFamily="2" charset="-78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A2BCF3-5135-CC66-C9F8-32B7B9594C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45610" y="762000"/>
            <a:ext cx="638367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rtl="1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چرا</a:t>
            </a: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Latent Diffusion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a-I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سریع‌تر است؟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4268204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11099F2-9349-C378-A12E-294661154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70572" y="631189"/>
            <a:ext cx="74278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Reverse / Denoising</a:t>
            </a:r>
            <a:r>
              <a:rPr lang="fa-I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 </a:t>
            </a:r>
            <a:r>
              <a:rPr kumimoji="0" lang="ar-SA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نمونه‌سازی مرحله‌به‌مرحله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EBEF25-B796-160F-5322-BEA516854A2C}"/>
                  </a:ext>
                </a:extLst>
              </p:cNvPr>
              <p:cNvSpPr txBox="1"/>
              <p:nvPr/>
            </p:nvSpPr>
            <p:spPr>
              <a:xfrm>
                <a:off x="4181650" y="1482248"/>
                <a:ext cx="7316788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r" rtl="1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ar-OM" sz="2200" dirty="0">
                    <a:cs typeface="B Nazanin" panose="00000400000000000000" pitchFamily="2" charset="-78"/>
                  </a:rPr>
                  <a:t>از نویز شروع می‌کنیم: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OM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OM" sz="22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OM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OM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GB" sz="2200" dirty="0"/>
                  <a:t>​</a:t>
                </a:r>
              </a:p>
              <a:p>
                <a:pPr marL="342900" indent="-342900" algn="r" rtl="1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GB" sz="2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U-Net</a:t>
                </a:r>
                <a:r>
                  <a:rPr lang="ar-OM" sz="2200" dirty="0">
                    <a:cs typeface="B Nazanin" panose="00000400000000000000" pitchFamily="2" charset="-78"/>
                  </a:rPr>
                  <a:t>درهر گام نویز را پیش‌بینی می‌کند</a:t>
                </a:r>
              </a:p>
              <a:p>
                <a:pPr marL="342900" indent="-342900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endParaRPr lang="ar-OM" sz="2200" dirty="0"/>
              </a:p>
              <a:p>
                <a:pPr marL="342900" indent="-342900" algn="r" rtl="1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GB" sz="2200" dirty="0"/>
                  <a:t> </a:t>
                </a:r>
                <a:r>
                  <a:rPr lang="en-GB" sz="2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Scheduler</a:t>
                </a:r>
                <a:r>
                  <a:rPr lang="ar-OM" sz="2200" dirty="0">
                    <a:cs typeface="B Nazanin" panose="00000400000000000000" pitchFamily="2" charset="-78"/>
                  </a:rPr>
                  <a:t>اندازه‌ی قدم‌ها را تعیین می‌کند (</a:t>
                </a:r>
                <a:r>
                  <a:rPr lang="fa-IR" sz="2200" dirty="0">
                    <a:cs typeface="B Nazanin" panose="00000400000000000000" pitchFamily="2" charset="-78"/>
                  </a:rPr>
                  <a:t>تعادل </a:t>
                </a:r>
                <a:r>
                  <a:rPr lang="ar-OM" sz="2200" dirty="0">
                    <a:cs typeface="B Nazanin" panose="00000400000000000000" pitchFamily="2" charset="-78"/>
                  </a:rPr>
                  <a:t>کیفیت/سرعت)</a:t>
                </a:r>
                <a:endParaRPr lang="en-GB" sz="2200" dirty="0">
                  <a:cs typeface="B Nazanin" panose="00000400000000000000" pitchFamily="2" charset="-78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EBEF25-B796-160F-5322-BEA516854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650" y="1482248"/>
                <a:ext cx="7316788" cy="1785104"/>
              </a:xfrm>
              <a:prstGeom prst="rect">
                <a:avLst/>
              </a:prstGeom>
              <a:blipFill>
                <a:blip r:embed="rId2"/>
                <a:stretch>
                  <a:fillRect l="-1000" t="-4096" r="-1000" b="-7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572598D-F0D7-D602-C25C-67CECBA1FA2A}"/>
                  </a:ext>
                </a:extLst>
              </p:cNvPr>
              <p:cNvSpPr/>
              <p:nvPr/>
            </p:nvSpPr>
            <p:spPr>
              <a:xfrm>
                <a:off x="760412" y="3772013"/>
                <a:ext cx="2285206" cy="903806"/>
              </a:xfrm>
              <a:prstGeom prst="rect">
                <a:avLst/>
              </a:prstGeom>
              <a:solidFill>
                <a:srgbClr val="FFC000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200" b="1" dirty="0"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  <a:p>
                <a:pPr algn="ctr"/>
                <a:r>
                  <a:rPr lang="en-GB" sz="2200" dirty="0">
                    <a:solidFill>
                      <a:schemeClr val="bg2">
                        <a:lumMod val="10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22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GB" sz="22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572598D-F0D7-D602-C25C-67CECBA1FA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12" y="3772013"/>
                <a:ext cx="2285206" cy="903806"/>
              </a:xfrm>
              <a:prstGeom prst="rect">
                <a:avLst/>
              </a:prstGeom>
              <a:blipFill>
                <a:blip r:embed="rId3"/>
                <a:stretch>
                  <a:fillRect t="-162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C8C0F7DB-9046-129A-DB8A-1D06001B275D}"/>
              </a:ext>
            </a:extLst>
          </p:cNvPr>
          <p:cNvSpPr/>
          <p:nvPr/>
        </p:nvSpPr>
        <p:spPr>
          <a:xfrm>
            <a:off x="6122193" y="5168057"/>
            <a:ext cx="2362200" cy="872432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srgbClr val="C5E5EC">
                    <a:lumMod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Scheduler</a:t>
            </a:r>
            <a:endParaRPr kumimoji="0" lang="fa-IR" sz="2200" b="1" i="0" u="none" strike="noStrike" kern="1200" cap="none" spc="0" normalizeH="0" baseline="0" noProof="0" dirty="0">
              <a:ln>
                <a:noFill/>
              </a:ln>
              <a:solidFill>
                <a:srgbClr val="C5E5EC">
                  <a:lumMod val="1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C5E5EC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B500DA1-5C1D-A4EC-3C5C-854B061657D0}"/>
                  </a:ext>
                </a:extLst>
              </p:cNvPr>
              <p:cNvSpPr/>
              <p:nvPr/>
            </p:nvSpPr>
            <p:spPr>
              <a:xfrm>
                <a:off x="8817768" y="3752906"/>
                <a:ext cx="2819400" cy="942019"/>
              </a:xfrm>
              <a:prstGeom prst="rect">
                <a:avLst/>
              </a:prstGeom>
              <a:solidFill>
                <a:srgbClr val="FFC000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200" b="1" dirty="0"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End </a:t>
                </a:r>
              </a:p>
              <a:p>
                <a:pPr algn="ctr"/>
                <a:r>
                  <a:rPr lang="en-GB" sz="2200" dirty="0">
                    <a:solidFill>
                      <a:schemeClr val="bg2">
                        <a:lumMod val="10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(Denoised Latent)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2200" i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fa-IR" sz="22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GB" sz="22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B500DA1-5C1D-A4EC-3C5C-854B061657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768" y="3752906"/>
                <a:ext cx="2819400" cy="942019"/>
              </a:xfrm>
              <a:prstGeom prst="rect">
                <a:avLst/>
              </a:prstGeom>
              <a:blipFill>
                <a:blip r:embed="rId4"/>
                <a:stretch>
                  <a:fillRect t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DEDD4D-4DE8-BB77-DFB1-196F98E8CFCC}"/>
                  </a:ext>
                </a:extLst>
              </p:cNvPr>
              <p:cNvSpPr/>
              <p:nvPr/>
            </p:nvSpPr>
            <p:spPr>
              <a:xfrm>
                <a:off x="3340099" y="3772013"/>
                <a:ext cx="2514600" cy="903806"/>
              </a:xfrm>
              <a:prstGeom prst="rect">
                <a:avLst/>
              </a:prstGeom>
              <a:solidFill>
                <a:srgbClr val="FFC000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200" b="1" dirty="0"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U-Net Denoiser</a:t>
                </a:r>
              </a:p>
              <a:p>
                <a:pPr algn="ctr"/>
                <a:r>
                  <a:rPr lang="en-GB" sz="2200" dirty="0">
                    <a:solidFill>
                      <a:schemeClr val="bg2">
                        <a:lumMod val="10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Predicted 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2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GB" sz="22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DEDD4D-4DE8-BB77-DFB1-196F98E8C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099" y="3772013"/>
                <a:ext cx="2514600" cy="903806"/>
              </a:xfrm>
              <a:prstGeom prst="rect">
                <a:avLst/>
              </a:prstGeom>
              <a:blipFill>
                <a:blip r:embed="rId5"/>
                <a:stretch>
                  <a:fillRect b="-60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852ED9DE-5487-7248-5AEF-60061ECD20FD}"/>
              </a:ext>
            </a:extLst>
          </p:cNvPr>
          <p:cNvSpPr/>
          <p:nvPr/>
        </p:nvSpPr>
        <p:spPr>
          <a:xfrm>
            <a:off x="6198393" y="3733800"/>
            <a:ext cx="2286000" cy="985364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</a:t>
            </a:r>
            <a:endParaRPr lang="fa-IR" sz="2200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2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(less noisy )</a:t>
            </a:r>
            <a:endParaRPr lang="fa-IR" sz="22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sz="22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16DFEA-A25E-7E71-E48D-029B4BFB5FCD}"/>
                  </a:ext>
                </a:extLst>
              </p:cNvPr>
              <p:cNvSpPr txBox="1"/>
              <p:nvPr/>
            </p:nvSpPr>
            <p:spPr>
              <a:xfrm>
                <a:off x="1369615" y="4368120"/>
                <a:ext cx="106680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16DFEA-A25E-7E71-E48D-029B4BFB5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615" y="4368120"/>
                <a:ext cx="1066800" cy="3416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D6B9BA-228A-A997-F36C-0BDAE813D431}"/>
                  </a:ext>
                </a:extLst>
              </p:cNvPr>
              <p:cNvSpPr txBox="1"/>
              <p:nvPr/>
            </p:nvSpPr>
            <p:spPr>
              <a:xfrm>
                <a:off x="6579393" y="4352603"/>
                <a:ext cx="1447800" cy="359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D6B9BA-228A-A997-F36C-0BDAE813D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393" y="4352603"/>
                <a:ext cx="1447800" cy="3596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D5FCEB-B807-6FF1-32FC-3961A3B09500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045618" y="4223916"/>
            <a:ext cx="294481" cy="0"/>
          </a:xfrm>
          <a:prstGeom prst="straightConnector1">
            <a:avLst/>
          </a:prstGeom>
          <a:ln w="12700">
            <a:solidFill>
              <a:srgbClr val="1F4E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C11CFD-77FA-514D-3026-3443095B542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854699" y="4223916"/>
            <a:ext cx="343694" cy="2566"/>
          </a:xfrm>
          <a:prstGeom prst="straightConnector1">
            <a:avLst/>
          </a:prstGeom>
          <a:ln w="12700">
            <a:solidFill>
              <a:srgbClr val="1F4E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4DEC556A-C0E5-5DB5-E890-DB9BEA97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8768" t="59937" r="-625" b="14501"/>
          <a:stretch>
            <a:fillRect/>
          </a:stretch>
        </p:blipFill>
        <p:spPr>
          <a:xfrm>
            <a:off x="7544792" y="4647244"/>
            <a:ext cx="3416892" cy="21624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17CD86E-8994-F45C-CCF2-B5C921C86BB1}"/>
              </a:ext>
            </a:extLst>
          </p:cNvPr>
          <p:cNvSpPr txBox="1"/>
          <p:nvPr/>
        </p:nvSpPr>
        <p:spPr>
          <a:xfrm>
            <a:off x="2077245" y="2330685"/>
            <a:ext cx="236219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</a:rPr>
              <a:t> </a:t>
            </a:r>
            <a:endParaRPr lang="en-US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0A22E2-B293-0048-043A-04081BD6B552}"/>
              </a:ext>
            </a:extLst>
          </p:cNvPr>
          <p:cNvSpPr txBox="1"/>
          <p:nvPr/>
        </p:nvSpPr>
        <p:spPr>
          <a:xfrm>
            <a:off x="2199482" y="4769332"/>
            <a:ext cx="3998911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90000"/>
              </a:lnSpc>
            </a:pPr>
            <a:r>
              <a:rPr lang="ar-OM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شرط‌گذاری</a:t>
            </a:r>
            <a:r>
              <a:rPr lang="ar-OM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) ا</a:t>
            </a:r>
            <a:r>
              <a:rPr lang="ar-OM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ز بردار متن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Embedding)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0771484-C502-D066-498D-FCF9F4CA2275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8484393" y="4223916"/>
            <a:ext cx="333375" cy="2566"/>
          </a:xfrm>
          <a:prstGeom prst="straightConnector1">
            <a:avLst/>
          </a:prstGeom>
          <a:ln w="12700">
            <a:solidFill>
              <a:srgbClr val="1F4E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1F084DE-BA95-7CE2-98C8-37045E21DC77}"/>
              </a:ext>
            </a:extLst>
          </p:cNvPr>
          <p:cNvCxnSpPr>
            <a:stCxn id="7" idx="0"/>
            <a:endCxn id="12" idx="2"/>
          </p:cNvCxnSpPr>
          <p:nvPr/>
        </p:nvCxnSpPr>
        <p:spPr>
          <a:xfrm flipV="1">
            <a:off x="7303293" y="4712253"/>
            <a:ext cx="0" cy="455804"/>
          </a:xfrm>
          <a:prstGeom prst="straightConnector1">
            <a:avLst/>
          </a:prstGeom>
          <a:ln w="12700">
            <a:solidFill>
              <a:srgbClr val="1F4E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DDE37B0-8E41-7FE1-634D-7219DE1CF216}"/>
              </a:ext>
            </a:extLst>
          </p:cNvPr>
          <p:cNvSpPr txBox="1"/>
          <p:nvPr/>
        </p:nvSpPr>
        <p:spPr>
          <a:xfrm>
            <a:off x="8774108" y="5553744"/>
            <a:ext cx="214391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 for t=T, …, 1 </a:t>
            </a:r>
          </a:p>
        </p:txBody>
      </p:sp>
    </p:spTree>
    <p:extLst>
      <p:ext uri="{BB962C8B-B14F-4D97-AF65-F5344CB8AC3E}">
        <p14:creationId xmlns:p14="http://schemas.microsoft.com/office/powerpoint/2010/main" val="417851914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AA41E-09C9-3944-0337-00DEDA7B3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11" y="1600200"/>
            <a:ext cx="10515601" cy="3657600"/>
          </a:xfrm>
        </p:spPr>
        <p:txBody>
          <a:bodyPr>
            <a:normAutofit/>
          </a:bodyPr>
          <a:lstStyle/>
          <a:p>
            <a:pPr algn="r" rtl="1">
              <a:buClr>
                <a:srgbClr val="C00000"/>
              </a:buClr>
            </a:pP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(N)</a:t>
            </a:r>
            <a:r>
              <a:rPr lang="fa-I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ar-OM" sz="2200" b="1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گام‌ها: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کیفیت و جزئیات ↑ | زمان اجرا ↑</a:t>
            </a:r>
          </a:p>
          <a:p>
            <a:pPr algn="r" rtl="1">
              <a:buClr>
                <a:srgbClr val="C00000"/>
              </a:buClr>
            </a:pP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CFG / Guidance</a:t>
            </a:r>
            <a:r>
              <a:rPr lang="fa-I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تبعیت از پرامپت ↑ | ممکن است آرتیفکت/غیرطبیعی شدن ↑</a:t>
            </a:r>
            <a:endParaRPr lang="fa-IR" sz="2200" dirty="0"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algn="r" rtl="1">
              <a:buClr>
                <a:srgbClr val="C00000"/>
              </a:buClr>
            </a:pP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Sampler</a:t>
            </a:r>
            <a:r>
              <a:rPr lang="fa-I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روش نمونه‌گیری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⇒ (++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/ DDIM / DPM)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روی شارپنس، پایداری و سرعت اثر دارد</a:t>
            </a:r>
          </a:p>
          <a:p>
            <a:pPr algn="r" rtl="1">
              <a:buClr>
                <a:srgbClr val="C00000"/>
              </a:buClr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)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:Seed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بذر تصادفی): خروجی تکرارپذیر (مناسب دمو) ⇒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ثابت</a:t>
            </a:r>
          </a:p>
          <a:p>
            <a:pPr algn="r" rtl="1">
              <a:buClr>
                <a:srgbClr val="C00000"/>
              </a:buClr>
            </a:pP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Resolution</a:t>
            </a:r>
            <a:r>
              <a:rPr lang="fa-I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VRAM 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و زمان ↑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⇒ معمولاً مضرب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64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⇒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بزرگ‌تر</a:t>
            </a:r>
          </a:p>
          <a:p>
            <a:pPr algn="r" rtl="1">
              <a:buClr>
                <a:srgbClr val="C00000"/>
              </a:buClr>
            </a:pP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 Prompt</a:t>
            </a:r>
            <a:r>
              <a:rPr lang="fa-I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حذف ویژگی‌های ناخواسته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blur, extra fingers)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…)</a:t>
            </a:r>
            <a:endParaRPr lang="en-GB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F96D52-815F-BB43-8483-A334E1180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4661" y="698169"/>
            <a:ext cx="76137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پارامترهای مهم در تولید تصویر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Diffusion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24713A-6ED5-06E9-1A77-AEABA6134CF9}"/>
              </a:ext>
            </a:extLst>
          </p:cNvPr>
          <p:cNvSpPr txBox="1"/>
          <p:nvPr/>
        </p:nvSpPr>
        <p:spPr>
          <a:xfrm>
            <a:off x="1903412" y="5257800"/>
            <a:ext cx="8382000" cy="3770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demo: Steps=25 ، CFG=7 ، Sampler=DPM++ 2M ، 512×512 ، Seed = 42 </a:t>
            </a:r>
          </a:p>
        </p:txBody>
      </p:sp>
    </p:spTree>
    <p:extLst>
      <p:ext uri="{BB962C8B-B14F-4D97-AF65-F5344CB8AC3E}">
        <p14:creationId xmlns:p14="http://schemas.microsoft.com/office/powerpoint/2010/main" val="2422971601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662B3-5874-8B62-93FE-605570EC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457200"/>
            <a:ext cx="9601200" cy="1143000"/>
          </a:xfrm>
        </p:spPr>
        <p:txBody>
          <a:bodyPr>
            <a:normAutofit/>
          </a:bodyPr>
          <a:lstStyle/>
          <a:p>
            <a:pPr algn="r" rtl="1"/>
            <a:r>
              <a:rPr lang="fa-I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a-I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OM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چیست؟ (مدل‌های زبانی بزرگ)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99255-BBBA-1DAC-450D-DF0F67739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1" y="1981200"/>
            <a:ext cx="10058401" cy="4495800"/>
          </a:xfrm>
        </p:spPr>
        <p:txBody>
          <a:bodyPr>
            <a:normAutofit/>
          </a:bodyPr>
          <a:lstStyle/>
          <a:p>
            <a:pPr algn="r" rtl="1">
              <a:buClr>
                <a:srgbClr val="C00000"/>
              </a:buClr>
            </a:pPr>
            <a:r>
              <a:rPr lang="fa-IR" sz="2200" b="1" dirty="0">
                <a:cs typeface="B Nazanin" panose="00000400000000000000" pitchFamily="2" charset="-78"/>
              </a:rPr>
              <a:t>ا</a:t>
            </a:r>
            <a:r>
              <a:rPr lang="ar-OM" sz="2200" b="1" dirty="0">
                <a:cs typeface="B Nazanin" panose="00000400000000000000" pitchFamily="2" charset="-78"/>
              </a:rPr>
              <a:t>یده اصلی: </a:t>
            </a:r>
            <a:r>
              <a:rPr lang="ar-OM" sz="2200" dirty="0">
                <a:cs typeface="B Nazanin" panose="00000400000000000000" pitchFamily="2" charset="-78"/>
              </a:rPr>
              <a:t>یادگیری توزیع احتمال متن و تولید مرحله‌به‌مرحله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Autoregressive)</a:t>
            </a:r>
            <a:r>
              <a:rPr lang="fa-IR" sz="2200" dirty="0">
                <a:cs typeface="B Nazanin" panose="00000400000000000000" pitchFamily="2" charset="-78"/>
              </a:rPr>
              <a:t> 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واحد پردازش: </a:t>
            </a:r>
            <a:r>
              <a:rPr lang="ar-OM" sz="2200" dirty="0">
                <a:cs typeface="B Nazanin" panose="00000400000000000000" pitchFamily="2" charset="-78"/>
              </a:rPr>
              <a:t>توکن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(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OM" sz="2200" dirty="0">
                <a:cs typeface="B Nazanin" panose="00000400000000000000" pitchFamily="2" charset="-78"/>
              </a:rPr>
              <a:t>کلمه</a:t>
            </a:r>
            <a:r>
              <a:rPr lang="fa-IR" sz="2200" dirty="0">
                <a:cs typeface="B Nazanin" panose="00000400000000000000" pitchFamily="2" charset="-78"/>
              </a:rPr>
              <a:t> </a:t>
            </a:r>
            <a:r>
              <a:rPr lang="ar-OM" sz="2200" dirty="0">
                <a:cs typeface="B Nazanin" panose="00000400000000000000" pitchFamily="2" charset="-78"/>
              </a:rPr>
              <a:t>/</a:t>
            </a:r>
            <a:r>
              <a:rPr lang="fa-IR" sz="2200" dirty="0">
                <a:cs typeface="B Nazanin" panose="00000400000000000000" pitchFamily="2" charset="-78"/>
              </a:rPr>
              <a:t> </a:t>
            </a:r>
            <a:r>
              <a:rPr lang="ar-OM" sz="2200" dirty="0">
                <a:cs typeface="B Nazanin" panose="00000400000000000000" pitchFamily="2" charset="-78"/>
              </a:rPr>
              <a:t>زیرکلمه</a:t>
            </a: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هدف آموزش: </a:t>
            </a:r>
            <a:r>
              <a:rPr lang="ar-OM" sz="2200" dirty="0">
                <a:cs typeface="B Nazanin" panose="00000400000000000000" pitchFamily="2" charset="-78"/>
              </a:rPr>
              <a:t>بیشینه‌سازی احتمال توکن بعدی با شرط متن قبلی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Next-token prediction)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کاربردها: </a:t>
            </a:r>
            <a:r>
              <a:rPr lang="ar-OM" sz="2200" dirty="0">
                <a:cs typeface="B Nazanin" panose="00000400000000000000" pitchFamily="2" charset="-78"/>
              </a:rPr>
              <a:t>تولید متن، خلاصه‌سازی، ترجمه، سؤال‌وجواب، کدنویسی</a:t>
            </a: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نمونه‌ها: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GPT-style </a:t>
            </a:r>
            <a:r>
              <a:rPr lang="en-GB" sz="2200" dirty="0">
                <a:cs typeface="B Nazanin" panose="00000400000000000000" pitchFamily="2" charset="-78"/>
              </a:rPr>
              <a:t>، </a:t>
            </a:r>
            <a:r>
              <a:rPr lang="en-GB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LLaMA</a:t>
            </a:r>
            <a:r>
              <a:rPr lang="en-GB" sz="2200" dirty="0">
                <a:cs typeface="B Nazanin" panose="00000400000000000000" pitchFamily="2" charset="-78"/>
              </a:rPr>
              <a:t> ،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Mistral</a:t>
            </a:r>
            <a:endParaRPr lang="fa-IR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buClr>
                <a:srgbClr val="C00000"/>
              </a:buClr>
            </a:pP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«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تکست را می‌سازد» چون الگوهای آماری زبان را از داده‌های بزرگ یاد گرفته است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287563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5A89-992B-38B7-2AC5-A97BF85B5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152400"/>
            <a:ext cx="9601200" cy="838200"/>
          </a:xfrm>
        </p:spPr>
        <p:txBody>
          <a:bodyPr>
            <a:normAutofit/>
          </a:bodyPr>
          <a:lstStyle/>
          <a:p>
            <a:pPr algn="r" rtl="1"/>
            <a:r>
              <a:rPr lang="ar-OM" sz="3200" b="1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معماری</a:t>
            </a:r>
            <a:r>
              <a:rPr lang="ar-OM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ar-OM" sz="3200" b="1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های</a:t>
            </a:r>
            <a:r>
              <a:rPr lang="ar-OM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GPT-style (Transformer Decoder)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A2C27-C402-AED3-FBE6-05BDF91C6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12" y="1152525"/>
            <a:ext cx="11430000" cy="3267075"/>
          </a:xfrm>
        </p:spPr>
        <p:txBody>
          <a:bodyPr>
            <a:normAutofit/>
          </a:bodyPr>
          <a:lstStyle/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ورودی: </a:t>
            </a:r>
            <a:r>
              <a:rPr lang="ar-OM" sz="2200" dirty="0">
                <a:cs typeface="B Nazanin" panose="00000400000000000000" pitchFamily="2" charset="-78"/>
              </a:rPr>
              <a:t>متن → توکن‌ها</a:t>
            </a:r>
            <a:r>
              <a:rPr lang="fa-IR" sz="2200" dirty="0">
                <a:cs typeface="B Nazanin" panose="00000400000000000000" pitchFamily="2" charset="-78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 IDs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buClr>
                <a:srgbClr val="C00000"/>
              </a:buClr>
            </a:pPr>
            <a:r>
              <a:rPr lang="en-GB" sz="2000" b="1" dirty="0"/>
              <a:t>Embedding + Positional Encoding</a:t>
            </a:r>
            <a:r>
              <a:rPr lang="fa-IR" sz="2200" b="1" dirty="0">
                <a:cs typeface="B Nazanin" panose="00000400000000000000" pitchFamily="2" charset="-78"/>
              </a:rPr>
              <a:t>: </a:t>
            </a:r>
            <a:r>
              <a:rPr lang="fa-IR" sz="2200" dirty="0">
                <a:cs typeface="B Nazanin" panose="00000400000000000000" pitchFamily="2" charset="-78"/>
              </a:rPr>
              <a:t>ت</a:t>
            </a:r>
            <a:r>
              <a:rPr lang="ar-OM" sz="2200" dirty="0">
                <a:cs typeface="B Nazanin" panose="00000400000000000000" pitchFamily="2" charset="-78"/>
              </a:rPr>
              <a:t>بدیل توکن‌ها به بردار + اضافه‌کردن اطلاعات ترتیب</a:t>
            </a: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بلوک‌های تکرارشونده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(N×)</a:t>
            </a:r>
            <a:r>
              <a:rPr lang="fa-I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Self-Attention (Masked/Causal) + MLP/FFN + Residual +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LayerNorm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خروجی</a:t>
            </a:r>
            <a:r>
              <a:rPr lang="ar-OM" sz="2200" b="1" dirty="0"/>
              <a:t>: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 Head → Logits →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200" dirty="0"/>
              <a:t>→ </a:t>
            </a:r>
            <a:r>
              <a:rPr lang="ar-OM" sz="2200" dirty="0">
                <a:cs typeface="B Nazanin" panose="00000400000000000000" pitchFamily="2" charset="-78"/>
              </a:rPr>
              <a:t>توزیع احتمال توکن بعدی</a:t>
            </a:r>
            <a:endParaRPr lang="en-GB" sz="2200" dirty="0">
              <a:cs typeface="B Nazanin" panose="00000400000000000000" pitchFamily="2" charset="-78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BC7B79C9-542A-95F7-014A-1A1B96CC93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74937"/>
              </p:ext>
            </p:extLst>
          </p:nvPr>
        </p:nvGraphicFramePr>
        <p:xfrm>
          <a:off x="1688305" y="3409950"/>
          <a:ext cx="8812213" cy="5036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953304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1BF1-3A5B-5F14-3802-4CBFC046E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609600"/>
            <a:ext cx="9601200" cy="685800"/>
          </a:xfrm>
        </p:spPr>
        <p:txBody>
          <a:bodyPr>
            <a:normAutofit/>
          </a:bodyPr>
          <a:lstStyle/>
          <a:p>
            <a:pPr algn="r" rtl="1"/>
            <a:r>
              <a:rPr lang="ar-OM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تولید متن در </a:t>
            </a: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(Sampling / Decoding)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48F13-5731-B023-CB56-3071D86DF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85" y="1600200"/>
            <a:ext cx="9601200" cy="4495800"/>
          </a:xfrm>
        </p:spPr>
        <p:txBody>
          <a:bodyPr>
            <a:normAutofit fontScale="92500" lnSpcReduction="10000"/>
          </a:bodyPr>
          <a:lstStyle/>
          <a:p>
            <a:pPr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خروجی مدل در هر گام:</a:t>
            </a:r>
            <a:r>
              <a:rPr lang="en-US" b="1" dirty="0">
                <a:cs typeface="B Nazanin" panose="00000400000000000000" pitchFamily="2" charset="-78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Logits</a:t>
            </a:r>
            <a:r>
              <a:rPr lang="en-GB" dirty="0">
                <a:cs typeface="B Nazanin" panose="00000400000000000000" pitchFamily="2" charset="-78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برای همه‌ی توکن‌ها (امتیاز خام)</a:t>
            </a:r>
          </a:p>
          <a:p>
            <a:pPr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تبدیل </a:t>
            </a:r>
            <a:r>
              <a:rPr lang="en-US" b="1" dirty="0">
                <a:cs typeface="B Nazanin" panose="00000400000000000000" pitchFamily="2" charset="-78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Logits</a:t>
            </a:r>
            <a:r>
              <a:rPr lang="en-GB" b="1" dirty="0">
                <a:cs typeface="B Nazanin" panose="00000400000000000000" pitchFamily="2" charset="-78"/>
              </a:rPr>
              <a:t> </a:t>
            </a:r>
            <a:r>
              <a:rPr lang="ar-OM" b="1" dirty="0">
                <a:cs typeface="B Nazanin" panose="00000400000000000000" pitchFamily="2" charset="-78"/>
              </a:rPr>
              <a:t>به احتمال: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GB" dirty="0">
                <a:cs typeface="B Nazanin" panose="00000400000000000000" pitchFamily="2" charset="-78"/>
              </a:rPr>
              <a:t> →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Probability</a:t>
            </a:r>
            <a:r>
              <a:rPr lang="en-GB" dirty="0">
                <a:cs typeface="B Nazanin" panose="00000400000000000000" pitchFamily="2" charset="-78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</a:t>
            </a:r>
          </a:p>
          <a:p>
            <a:pPr algn="r" rtl="1">
              <a:buClr>
                <a:srgbClr val="C00000"/>
              </a:buClr>
            </a:pPr>
            <a:r>
              <a:rPr lang="ar-OM" dirty="0">
                <a:cs typeface="B Nazanin" panose="00000400000000000000" pitchFamily="2" charset="-78"/>
              </a:rPr>
              <a:t>انتخاب توکن بعدی با روش نمونه‌گیری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Sampling) </a:t>
            </a:r>
            <a:r>
              <a:rPr lang="ar-OM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یا</a:t>
            </a:r>
            <a:r>
              <a:rPr lang="ar-OM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Greedy/Beam</a:t>
            </a:r>
          </a:p>
          <a:p>
            <a:pPr algn="r" rtl="1">
              <a:buClr>
                <a:srgbClr val="C00000"/>
              </a:buClr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 (T)</a:t>
            </a: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1982" lvl="1" indent="-342900" algn="r" rtl="1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↓</a:t>
            </a:r>
            <a:r>
              <a:rPr lang="ar-OM" dirty="0">
                <a:cs typeface="B Nazanin" panose="00000400000000000000" pitchFamily="2" charset="-78"/>
              </a:rPr>
              <a:t>پاسخ‌ها قطعی‌تر و تکراری‌تر</a:t>
            </a:r>
          </a:p>
          <a:p>
            <a:pPr marL="621982" lvl="1" indent="-342900" algn="r" rtl="1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↑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ar-OM" dirty="0">
                <a:cs typeface="B Nazanin" panose="00000400000000000000" pitchFamily="2" charset="-78"/>
              </a:rPr>
              <a:t>خلاقیت بیشتر ولی احتمال خطا/هذیان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64B4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↑</a:t>
            </a:r>
            <a:endParaRPr lang="en-US" dirty="0">
              <a:cs typeface="B Nazanin" panose="00000400000000000000" pitchFamily="2" charset="-78"/>
            </a:endParaRPr>
          </a:p>
          <a:p>
            <a:pPr algn="r" rtl="1">
              <a:buClr>
                <a:srgbClr val="C00000"/>
              </a:buClr>
            </a:pPr>
            <a:r>
              <a:rPr lang="en-GB" b="1" dirty="0">
                <a:cs typeface="B Nazanin" panose="00000400000000000000" pitchFamily="2" charset="-78"/>
              </a:rPr>
              <a:t>: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Top-p (Nucleus)</a:t>
            </a: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فقط </a:t>
            </a:r>
            <a:r>
              <a:rPr lang="ar-OM" dirty="0">
                <a:cs typeface="B Nazanin" panose="00000400000000000000" pitchFamily="2" charset="-78"/>
              </a:rPr>
              <a:t>کوچک‌ترین مجموعه توکن‌ها با مجموع احتمال ≥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انتخاب می‌شوند</a:t>
            </a:r>
            <a:r>
              <a:rPr lang="en-US" dirty="0">
                <a:cs typeface="B Nazanin" panose="00000400000000000000" pitchFamily="2" charset="-78"/>
              </a:rPr>
              <a:t> </a:t>
            </a:r>
            <a:endParaRPr lang="ar-OM" dirty="0">
              <a:cs typeface="B Nazanin" panose="00000400000000000000" pitchFamily="2" charset="-78"/>
            </a:endParaRPr>
          </a:p>
          <a:p>
            <a:pPr algn="r" rtl="1">
              <a:buClr>
                <a:srgbClr val="C00000"/>
              </a:buClr>
            </a:pPr>
            <a:r>
              <a:rPr lang="en-GB" dirty="0">
                <a:cs typeface="B Nazanin" panose="00000400000000000000" pitchFamily="2" charset="-78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:Top-k</a:t>
            </a:r>
            <a:r>
              <a:rPr lang="ar-OM" dirty="0">
                <a:cs typeface="B Nazanin" panose="00000400000000000000" pitchFamily="2" charset="-78"/>
              </a:rPr>
              <a:t>فقط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GB"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توکنِ محتمل‌تر اجازه انتخاب دارند</a:t>
            </a:r>
          </a:p>
          <a:p>
            <a:pPr algn="r" rtl="1">
              <a:buClr>
                <a:srgbClr val="C00000"/>
              </a:buClr>
            </a:pPr>
            <a:r>
              <a:rPr lang="en-GB" dirty="0">
                <a:cs typeface="B Nazanin" panose="00000400000000000000" pitchFamily="2" charset="-78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:Max tokens / Stop</a:t>
            </a:r>
            <a:r>
              <a:rPr lang="ar-OM" dirty="0">
                <a:cs typeface="B Nazanin" panose="00000400000000000000" pitchFamily="2" charset="-78"/>
              </a:rPr>
              <a:t>طول پاسخ و شرط پایان</a:t>
            </a:r>
          </a:p>
          <a:p>
            <a:pPr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تکرارپذیری: </a:t>
            </a:r>
            <a:r>
              <a:rPr lang="ar-OM" dirty="0">
                <a:cs typeface="B Nazanin" panose="00000400000000000000" pitchFamily="2" charset="-78"/>
              </a:rPr>
              <a:t>با 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Seed</a:t>
            </a:r>
            <a:r>
              <a:rPr lang="en-GB" dirty="0">
                <a:cs typeface="B Nazanin" panose="00000400000000000000" pitchFamily="2" charset="-78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و تنظیمات ثابت، خروجی قابل تکرارتر می‌شود</a:t>
            </a:r>
            <a:endParaRPr lang="en-GB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59660438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9056-7638-2297-1BE3-68DEACBA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813" y="533400"/>
            <a:ext cx="9601200" cy="1143000"/>
          </a:xfrm>
        </p:spPr>
        <p:txBody>
          <a:bodyPr>
            <a:normAutofit/>
          </a:bodyPr>
          <a:lstStyle/>
          <a:p>
            <a:pPr algn="r" rtl="1"/>
            <a:r>
              <a:rPr lang="ar-OM" sz="2800" b="1" dirty="0">
                <a:cs typeface="B Nazanin" panose="00000400000000000000" pitchFamily="2" charset="-78"/>
              </a:rPr>
              <a:t>آموزش و هم‌ترازسازی </a:t>
            </a:r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(Pretraining → SFT → RLHF)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0CF64-92E7-A86F-7B8C-2DCAEC308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1905000"/>
            <a:ext cx="10744201" cy="4495800"/>
          </a:xfrm>
        </p:spPr>
        <p:txBody>
          <a:bodyPr>
            <a:normAutofit/>
          </a:bodyPr>
          <a:lstStyle/>
          <a:p>
            <a:pPr algn="r" rtl="1">
              <a:lnSpc>
                <a:spcPct val="100000"/>
              </a:lnSpc>
              <a:buClr>
                <a:srgbClr val="C00000"/>
              </a:buClr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Pretraining</a:t>
            </a:r>
            <a:r>
              <a:rPr lang="fa-IR" b="1" dirty="0">
                <a:cs typeface="B Nazanin" panose="00000400000000000000" pitchFamily="2" charset="-78"/>
              </a:rPr>
              <a:t>(</a:t>
            </a:r>
            <a:r>
              <a:rPr lang="ar-OM" b="1" dirty="0">
                <a:cs typeface="B Nazanin" panose="00000400000000000000" pitchFamily="2" charset="-78"/>
              </a:rPr>
              <a:t>پیش‌آموزش): </a:t>
            </a:r>
            <a:r>
              <a:rPr lang="ar-OM" dirty="0">
                <a:cs typeface="B Nazanin" panose="00000400000000000000" pitchFamily="2" charset="-78"/>
              </a:rPr>
              <a:t>یادگیری زبان با هدف «پیش‌بینی توکن بعدی» روی داده‌های بسیار بزرگ</a:t>
            </a:r>
          </a:p>
          <a:p>
            <a:pPr algn="r" rtl="1">
              <a:lnSpc>
                <a:spcPct val="100000"/>
              </a:lnSpc>
              <a:buClr>
                <a:srgbClr val="C00000"/>
              </a:buClr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SFT / Instruction Tuning</a:t>
            </a:r>
            <a:r>
              <a:rPr lang="fa-IR" b="1" dirty="0"/>
              <a:t>: </a:t>
            </a:r>
            <a:r>
              <a:rPr lang="ar-OM" dirty="0">
                <a:cs typeface="B Nazanin" panose="00000400000000000000" pitchFamily="2" charset="-78"/>
              </a:rPr>
              <a:t>آموزش با داده‌های دستور/پرسش‌وپاسخ برای پاسخ‌دهی بهتر و قابل‌کنترل‌تر</a:t>
            </a:r>
          </a:p>
          <a:p>
            <a:pPr algn="r" rtl="1">
              <a:lnSpc>
                <a:spcPct val="100000"/>
              </a:lnSpc>
              <a:buClr>
                <a:srgbClr val="C00000"/>
              </a:buClr>
            </a:pPr>
            <a:r>
              <a:rPr lang="en-US" dirty="0"/>
              <a:t> </a:t>
            </a:r>
            <a:r>
              <a:rPr lang="en-US" b="1" dirty="0"/>
              <a:t>: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RLHF / DPO</a:t>
            </a:r>
            <a:r>
              <a:rPr lang="ar-OM" dirty="0">
                <a:cs typeface="B Nazanin" panose="00000400000000000000" pitchFamily="2" charset="-78"/>
              </a:rPr>
              <a:t>استفاده از «ترجیحات انسانی» برای کاهش پاسخ‌های نامطلوب و افزایش کمک‌پذیری/ایمنی</a:t>
            </a:r>
          </a:p>
          <a:p>
            <a:pPr algn="r" rtl="1">
              <a:lnSpc>
                <a:spcPct val="100000"/>
              </a:lnSpc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خروجی: </a:t>
            </a:r>
            <a:r>
              <a:rPr lang="ar-OM" dirty="0">
                <a:cs typeface="B Nazanin" panose="00000400000000000000" pitchFamily="2" charset="-78"/>
              </a:rPr>
              <a:t>یک دستیار گفت‌وگومحور که «به دستور کاربر پایبندتر» است</a:t>
            </a:r>
            <a:endParaRPr lang="en-GB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58556120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1763-FF92-C6FF-6963-7A5BA6DC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3" y="457200"/>
            <a:ext cx="9601200" cy="685800"/>
          </a:xfrm>
        </p:spPr>
        <p:txBody>
          <a:bodyPr>
            <a:normAutofit/>
          </a:bodyPr>
          <a:lstStyle/>
          <a:p>
            <a:pPr algn="r" rtl="1"/>
            <a:r>
              <a:rPr lang="ar-OM" sz="3200" b="1" dirty="0"/>
              <a:t>مقایسه اجرای محلی</a:t>
            </a:r>
            <a:r>
              <a:rPr lang="en-GB" sz="3200" b="1" dirty="0"/>
              <a:t>Local) </a:t>
            </a:r>
            <a:r>
              <a:rPr lang="ar-OM" sz="3200" b="1" dirty="0"/>
              <a:t>با سرویس ابری/</a:t>
            </a:r>
            <a:r>
              <a:rPr lang="en-GB" sz="3200" b="1" dirty="0"/>
              <a:t>API</a:t>
            </a:r>
            <a:r>
              <a:rPr lang="fa-IR" sz="3200" b="1" dirty="0"/>
              <a:t>)</a:t>
            </a:r>
            <a:endParaRPr lang="en-GB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13C7D-2712-A542-66F5-82185BDBC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5211" y="1673324"/>
            <a:ext cx="5154015" cy="2583126"/>
          </a:xfrm>
        </p:spPr>
        <p:txBody>
          <a:bodyPr/>
          <a:lstStyle/>
          <a:p>
            <a:pPr marL="0" indent="0" algn="r" rtl="1">
              <a:buNone/>
            </a:pPr>
            <a:r>
              <a:rPr lang="en-GB" sz="2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/ Cloud</a:t>
            </a:r>
            <a:r>
              <a:rPr lang="fa-IR" sz="2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pPr algn="r" rtl="1"/>
            <a:r>
              <a:rPr lang="fa-IR" sz="2000" dirty="0"/>
              <a:t> </a:t>
            </a:r>
            <a:r>
              <a:rPr lang="fa-IR" sz="2000" b="1" dirty="0">
                <a:cs typeface="B Nazanin" panose="00000400000000000000" pitchFamily="2" charset="-78"/>
              </a:rPr>
              <a:t>مزیت: </a:t>
            </a:r>
            <a:r>
              <a:rPr lang="fa-IR" sz="2000" dirty="0">
                <a:cs typeface="B Nazanin" panose="00000400000000000000" pitchFamily="2" charset="-78"/>
              </a:rPr>
              <a:t>راه‌اندازی سریع، مقیاس‌پذیر، معمولاً کیفیت/مدل‌های قوی‌تر</a:t>
            </a:r>
          </a:p>
          <a:p>
            <a:pPr algn="r" rtl="1"/>
            <a:r>
              <a:rPr lang="fa-IR" sz="2000" b="1" dirty="0">
                <a:cs typeface="B Nazanin" panose="00000400000000000000" pitchFamily="2" charset="-78"/>
              </a:rPr>
              <a:t>هزینه: </a:t>
            </a:r>
            <a:r>
              <a:rPr lang="fa-IR" sz="2000" dirty="0">
                <a:cs typeface="B Nazanin" panose="00000400000000000000" pitchFamily="2" charset="-78"/>
              </a:rPr>
              <a:t>پرداخت به ازای مصرف </a:t>
            </a:r>
            <a:r>
              <a:rPr lang="fa-I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fa-I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fa-IR" sz="2000" dirty="0">
                <a:cs typeface="B Nazanin" panose="00000400000000000000" pitchFamily="2" charset="-78"/>
              </a:rPr>
              <a:t>تصویر</a:t>
            </a:r>
            <a:r>
              <a:rPr lang="fa-I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fa-IR" sz="2000" dirty="0">
                <a:cs typeface="B Nazanin" panose="00000400000000000000" pitchFamily="2" charset="-78"/>
              </a:rPr>
              <a:t> دقیقه)</a:t>
            </a:r>
          </a:p>
          <a:p>
            <a:pPr algn="r" rtl="1"/>
            <a:r>
              <a:rPr lang="fa-IR" sz="2000" b="1" dirty="0">
                <a:cs typeface="B Nazanin" panose="00000400000000000000" pitchFamily="2" charset="-78"/>
              </a:rPr>
              <a:t>محدودیت: </a:t>
            </a:r>
            <a:r>
              <a:rPr lang="fa-IR" sz="2000" dirty="0">
                <a:cs typeface="B Nazanin" panose="00000400000000000000" pitchFamily="2" charset="-78"/>
              </a:rPr>
              <a:t>وابستگی به اینترنت + محدودیت‌های سیاست/نرخ + نگرانی داده‌ها</a:t>
            </a:r>
          </a:p>
          <a:p>
            <a:pPr algn="r" rtl="1"/>
            <a:endParaRPr lang="en-GB" dirty="0"/>
          </a:p>
          <a:p>
            <a:pPr algn="r" rtl="1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29A9B-6C2D-2C0D-3EFD-5D81EEEF1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0931" y="1760274"/>
            <a:ext cx="5419882" cy="2583126"/>
          </a:xfrm>
        </p:spPr>
        <p:txBody>
          <a:bodyPr/>
          <a:lstStyle/>
          <a:p>
            <a:pPr marL="0" indent="0" algn="r" rtl="1">
              <a:buNone/>
            </a:pPr>
            <a:r>
              <a:rPr lang="en-GB" sz="2000" b="1" dirty="0">
                <a:solidFill>
                  <a:srgbClr val="C00000"/>
                </a:solidFill>
              </a:rPr>
              <a:t>) </a:t>
            </a:r>
            <a:r>
              <a:rPr lang="en-GB" sz="2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</a:t>
            </a:r>
            <a:r>
              <a:rPr lang="ar-OM" sz="2000" b="1" dirty="0">
                <a:solidFill>
                  <a:srgbClr val="C00000"/>
                </a:solidFill>
                <a:cs typeface="B Nazanin" panose="00000400000000000000" pitchFamily="2" charset="-78"/>
              </a:rPr>
              <a:t>روی سیستم خودمان):</a:t>
            </a:r>
          </a:p>
          <a:p>
            <a:pPr algn="r" rtl="1"/>
            <a:r>
              <a:rPr lang="ar-OM" sz="2000" b="1" dirty="0">
                <a:cs typeface="B Nazanin" panose="00000400000000000000" pitchFamily="2" charset="-78"/>
              </a:rPr>
              <a:t>مزیت: </a:t>
            </a:r>
            <a:r>
              <a:rPr lang="ar-OM" sz="2000" dirty="0">
                <a:cs typeface="B Nazanin" panose="00000400000000000000" pitchFamily="2" charset="-78"/>
              </a:rPr>
              <a:t>حریم خصوصی بالاتر + امکان کار آفلاین + کنترل کامل روی مدل/تنظیمات</a:t>
            </a:r>
          </a:p>
          <a:p>
            <a:pPr algn="r" rtl="1"/>
            <a:r>
              <a:rPr lang="ar-OM" sz="2000" b="1" dirty="0">
                <a:cs typeface="B Nazanin" panose="00000400000000000000" pitchFamily="2" charset="-78"/>
              </a:rPr>
              <a:t>هزینه: </a:t>
            </a:r>
            <a:r>
              <a:rPr lang="ar-OM" sz="2000" dirty="0">
                <a:cs typeface="B Nazanin" panose="00000400000000000000" pitchFamily="2" charset="-78"/>
              </a:rPr>
              <a:t>معمولاً بدون هزینه هر درخواست (ولی نیاز به سخت‌افزار)</a:t>
            </a:r>
          </a:p>
          <a:p>
            <a:pPr algn="r" rtl="1"/>
            <a:r>
              <a:rPr lang="ar-OM" sz="2000" b="1" dirty="0">
                <a:cs typeface="B Nazanin" panose="00000400000000000000" pitchFamily="2" charset="-78"/>
              </a:rPr>
              <a:t>محدودیت: </a:t>
            </a:r>
            <a:r>
              <a:rPr lang="ar-OM" sz="2000" dirty="0">
                <a:cs typeface="B Nazanin" panose="00000400000000000000" pitchFamily="2" charset="-78"/>
              </a:rPr>
              <a:t>نیاز </a:t>
            </a:r>
            <a:r>
              <a:rPr lang="ar-OM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به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GPU/VRAM</a:t>
            </a:r>
            <a:r>
              <a:rPr lang="en-GB" sz="2000" dirty="0">
                <a:cs typeface="B Nazanin" panose="00000400000000000000" pitchFamily="2" charset="-78"/>
              </a:rPr>
              <a:t>، </a:t>
            </a:r>
            <a:r>
              <a:rPr lang="ar-OM" sz="2000" dirty="0">
                <a:cs typeface="B Nazanin" panose="00000400000000000000" pitchFamily="2" charset="-78"/>
              </a:rPr>
              <a:t>نصب و نگهداری، سرعت وابسته به سیستم</a:t>
            </a:r>
          </a:p>
          <a:p>
            <a:pPr algn="r" rt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0759B-BAEB-08E4-44E0-9B8B101D9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812" y="1179578"/>
            <a:ext cx="1298561" cy="6035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A3537A-897E-C47C-FEB4-9CFD7D4DC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096" y="1143000"/>
            <a:ext cx="1146147" cy="6462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55A925-A276-EF7F-D0D6-656BF4F6FCA0}"/>
              </a:ext>
            </a:extLst>
          </p:cNvPr>
          <p:cNvSpPr txBox="1"/>
          <p:nvPr/>
        </p:nvSpPr>
        <p:spPr>
          <a:xfrm>
            <a:off x="1065211" y="4572000"/>
            <a:ext cx="10515601" cy="1107996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OM" sz="2200" dirty="0">
                <a:solidFill>
                  <a:schemeClr val="tx2"/>
                </a:solidFill>
                <a:cs typeface="B Nazanin" panose="00000400000000000000" pitchFamily="2" charset="-78"/>
              </a:rPr>
              <a:t>چه زمانی کدام بهتر است؟</a:t>
            </a:r>
          </a:p>
          <a:p>
            <a:pPr algn="r" rtl="1"/>
            <a:r>
              <a:rPr lang="en-GB" sz="22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</a:t>
            </a:r>
            <a:r>
              <a:rPr lang="fa-IR" sz="2200" b="1" dirty="0">
                <a:solidFill>
                  <a:schemeClr val="tx2"/>
                </a:solidFill>
                <a:cs typeface="B Nazanin" panose="00000400000000000000" pitchFamily="2" charset="-78"/>
              </a:rPr>
              <a:t>: </a:t>
            </a:r>
            <a:r>
              <a:rPr lang="ar-OM" sz="2200" dirty="0">
                <a:solidFill>
                  <a:schemeClr val="tx2"/>
                </a:solidFill>
                <a:cs typeface="B Nazanin" panose="00000400000000000000" pitchFamily="2" charset="-78"/>
              </a:rPr>
              <a:t>پروژه‌های آموزشی/حساس، تست‌های زیاد، نیاز به کنترل کامل</a:t>
            </a:r>
          </a:p>
          <a:p>
            <a:pPr algn="r" rtl="1"/>
            <a:r>
              <a:rPr lang="en-GB" sz="22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fa-IR" sz="2200" b="1" dirty="0">
                <a:solidFill>
                  <a:schemeClr val="tx2"/>
                </a:solidFill>
                <a:cs typeface="B Nazanin" panose="00000400000000000000" pitchFamily="2" charset="-78"/>
              </a:rPr>
              <a:t>: </a:t>
            </a:r>
            <a:r>
              <a:rPr lang="fa-IR" sz="2200" dirty="0">
                <a:solidFill>
                  <a:schemeClr val="tx2"/>
                </a:solidFill>
                <a:cs typeface="B Nazanin" panose="00000400000000000000" pitchFamily="2" charset="-78"/>
              </a:rPr>
              <a:t>م</a:t>
            </a:r>
            <a:r>
              <a:rPr lang="ar-OM" sz="2200" dirty="0">
                <a:solidFill>
                  <a:schemeClr val="tx2"/>
                </a:solidFill>
                <a:cs typeface="B Nazanin" panose="00000400000000000000" pitchFamily="2" charset="-78"/>
              </a:rPr>
              <a:t>حصول/پروتوتایپ سریع، کیفیت بالا، تیم بدون سخت‌افزار</a:t>
            </a:r>
            <a:endParaRPr lang="en-GB" sz="2200" dirty="0">
              <a:solidFill>
                <a:schemeClr val="tx2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89184718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6564-9D1D-B2E4-D9DE-65DA8279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2" y="331304"/>
            <a:ext cx="9601200" cy="1143000"/>
          </a:xfrm>
        </p:spPr>
        <p:txBody>
          <a:bodyPr>
            <a:normAutofit/>
          </a:bodyPr>
          <a:lstStyle/>
          <a:p>
            <a:pPr algn="r" rtl="1"/>
            <a:r>
              <a:rPr lang="ar-OM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معماری دمو محلی </a:t>
            </a:r>
            <a:r>
              <a:rPr lang="ar-OM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Demo Architecture</a:t>
            </a:r>
            <a:r>
              <a:rPr lang="fa-I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F6589-59CC-46EE-02C6-46C851296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212" y="2133600"/>
            <a:ext cx="9601200" cy="3048000"/>
          </a:xfrm>
        </p:spPr>
        <p:txBody>
          <a:bodyPr>
            <a:normAutofit/>
          </a:bodyPr>
          <a:lstStyle/>
          <a:p>
            <a:pPr algn="r" rtl="1">
              <a:buClr>
                <a:srgbClr val="C00000"/>
              </a:buClr>
            </a:pPr>
            <a:r>
              <a:rPr lang="fa-IR" sz="2200" b="1" dirty="0">
                <a:cs typeface="B Nazanin" panose="00000400000000000000" pitchFamily="2" charset="-78"/>
              </a:rPr>
              <a:t>ه</a:t>
            </a:r>
            <a:r>
              <a:rPr lang="ar-OM" sz="2200" b="1" dirty="0">
                <a:cs typeface="B Nazanin" panose="00000400000000000000" pitchFamily="2" charset="-78"/>
              </a:rPr>
              <a:t>دف دمو: </a:t>
            </a:r>
            <a:r>
              <a:rPr lang="ar-OM" sz="2200" dirty="0">
                <a:cs typeface="B Nazanin" panose="00000400000000000000" pitchFamily="2" charset="-78"/>
              </a:rPr>
              <a:t>گرفتن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r>
              <a:rPr lang="en-GB" sz="2200" dirty="0">
                <a:cs typeface="B Nazanin" panose="00000400000000000000" pitchFamily="2" charset="-78"/>
              </a:rPr>
              <a:t> </a:t>
            </a:r>
            <a:r>
              <a:rPr lang="fa-IR" sz="2200" dirty="0">
                <a:cs typeface="B Nazanin" panose="00000400000000000000" pitchFamily="2" charset="-78"/>
              </a:rPr>
              <a:t> و </a:t>
            </a:r>
            <a:r>
              <a:rPr lang="ar-OM" sz="2200" dirty="0">
                <a:cs typeface="B Nazanin" panose="00000400000000000000" pitchFamily="2" charset="-78"/>
              </a:rPr>
              <a:t>پارامترها و تولید خروجی (تصویر/متن) به‌صورت محلی</a:t>
            </a: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ورودی‌ها: </a:t>
            </a:r>
            <a:r>
              <a:rPr lang="ar-OM" sz="2200" dirty="0">
                <a:cs typeface="B Nazanin" panose="00000400000000000000" pitchFamily="2" charset="-78"/>
              </a:rPr>
              <a:t>متن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fa-IR" sz="2200" dirty="0">
                <a:cs typeface="B Nazanin" panose="00000400000000000000" pitchFamily="2" charset="-78"/>
              </a:rPr>
              <a:t>+ </a:t>
            </a:r>
            <a:r>
              <a:rPr lang="ar-OM" sz="2200" dirty="0">
                <a:cs typeface="B Nazanin" panose="00000400000000000000" pitchFamily="2" charset="-78"/>
              </a:rPr>
              <a:t>پارامترها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/ CFG / Seed / Resolution</a:t>
            </a:r>
            <a:r>
              <a:rPr lang="en-GB" sz="2200" dirty="0">
                <a:cs typeface="B Nazanin" panose="00000400000000000000" pitchFamily="2" charset="-78"/>
              </a:rPr>
              <a:t>)</a:t>
            </a:r>
            <a:r>
              <a:rPr lang="fa-IR" sz="2200" dirty="0">
                <a:cs typeface="B Nazanin" panose="00000400000000000000" pitchFamily="2" charset="-78"/>
              </a:rPr>
              <a:t> )</a:t>
            </a:r>
            <a:endParaRPr lang="en-GB" sz="2200" dirty="0">
              <a:cs typeface="B Nazanin" panose="00000400000000000000" pitchFamily="2" charset="-78"/>
            </a:endParaRP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هسته پردازش: </a:t>
            </a:r>
            <a:r>
              <a:rPr lang="ar-OM" sz="2200" dirty="0">
                <a:cs typeface="B Nazanin" panose="00000400000000000000" pitchFamily="2" charset="-78"/>
              </a:rPr>
              <a:t>اجرای مدل روی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GPU/CPU </a:t>
            </a:r>
            <a:r>
              <a:rPr lang="en-GB" sz="2200" dirty="0">
                <a:cs typeface="B Nazanin" panose="00000400000000000000" pitchFamily="2" charset="-78"/>
              </a:rPr>
              <a:t>+ </a:t>
            </a:r>
            <a:r>
              <a:rPr lang="ar-OM" sz="2200" dirty="0">
                <a:cs typeface="B Nazanin" panose="00000400000000000000" pitchFamily="2" charset="-78"/>
              </a:rPr>
              <a:t>مدیریت حافظه (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VRAM</a:t>
            </a:r>
            <a:r>
              <a:rPr lang="fa-IR" sz="2200" dirty="0">
                <a:cs typeface="B Nazanin" panose="00000400000000000000" pitchFamily="2" charset="-78"/>
              </a:rPr>
              <a:t>)</a:t>
            </a:r>
            <a:endParaRPr lang="en-GB" sz="2200" dirty="0">
              <a:cs typeface="B Nazanin" panose="00000400000000000000" pitchFamily="2" charset="-78"/>
            </a:endParaRP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خروجی‌ها: </a:t>
            </a:r>
            <a:r>
              <a:rPr lang="ar-OM" sz="2200" dirty="0">
                <a:cs typeface="B Nazanin" panose="00000400000000000000" pitchFamily="2" charset="-78"/>
              </a:rPr>
              <a:t>تصویر نهایی + ذخیره‌سازی + نمایش نتیجه</a:t>
            </a: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ارزیابی: </a:t>
            </a:r>
            <a:r>
              <a:rPr lang="ar-OM" sz="2200" dirty="0">
                <a:cs typeface="B Nazanin" panose="00000400000000000000" pitchFamily="2" charset="-78"/>
              </a:rPr>
              <a:t>زمان اجرا، کیفیت خروجی، تکرارپذیری (با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Seed </a:t>
            </a:r>
            <a:r>
              <a:rPr lang="fa-IR" sz="2200" dirty="0">
                <a:cs typeface="B Nazanin" panose="00000400000000000000" pitchFamily="2" charset="-78"/>
              </a:rPr>
              <a:t> </a:t>
            </a:r>
            <a:r>
              <a:rPr lang="ar-OM" sz="2200" dirty="0">
                <a:cs typeface="B Nazanin" panose="00000400000000000000" pitchFamily="2" charset="-78"/>
              </a:rPr>
              <a:t>ثابت)</a:t>
            </a:r>
            <a:endParaRPr lang="en-GB" sz="22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28662628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6602-0736-23DA-0CED-3E53E559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311" y="533400"/>
            <a:ext cx="9601200" cy="762000"/>
          </a:xfrm>
        </p:spPr>
        <p:txBody>
          <a:bodyPr>
            <a:normAutofit/>
          </a:bodyPr>
          <a:lstStyle/>
          <a:p>
            <a:pPr algn="r" rtl="1"/>
            <a:r>
              <a:rPr lang="ar-OM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دموی محلی</a:t>
            </a:r>
            <a:r>
              <a:rPr lang="fa-I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:(</a:t>
            </a: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Python)</a:t>
            </a:r>
            <a:r>
              <a:rPr lang="ar-OM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مراحل اجرا و خروجی‌ها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5264F-090D-7F9F-2314-28F2CE858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58788" y="1676400"/>
            <a:ext cx="11925299" cy="4495800"/>
          </a:xfrm>
        </p:spPr>
        <p:txBody>
          <a:bodyPr>
            <a:normAutofit/>
          </a:bodyPr>
          <a:lstStyle/>
          <a:p>
            <a:pPr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هدف دمو: </a:t>
            </a:r>
            <a:r>
              <a:rPr lang="ar-OM" dirty="0">
                <a:cs typeface="B Nazanin" panose="00000400000000000000" pitchFamily="2" charset="-78"/>
              </a:rPr>
              <a:t>اجرای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</a:t>
            </a:r>
            <a:r>
              <a:rPr lang="en-GB" sz="2000" dirty="0">
                <a:cs typeface="B Nazanin" panose="00000400000000000000" pitchFamily="2" charset="-78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به‌صورت محلی و تولید تصویر از روی متن</a:t>
            </a:r>
          </a:p>
          <a:p>
            <a:pPr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ورودی‌ها: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Prompt، Negative Prompt، Seed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</a:t>
            </a:r>
            <a:r>
              <a:rPr lang="en-GB" dirty="0">
                <a:cs typeface="B Nazanin" panose="00000400000000000000" pitchFamily="2" charset="-78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و پارامترها </a:t>
            </a:r>
            <a:r>
              <a:rPr lang="en-US" dirty="0">
                <a:cs typeface="B Nazanin" panose="00000400000000000000" pitchFamily="2" charset="-78"/>
              </a:rPr>
              <a:t>(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Steps/CFG/Sampler/Resolution</a:t>
            </a:r>
            <a:r>
              <a:rPr lang="en-GB" dirty="0">
                <a:cs typeface="B Nazanin" panose="00000400000000000000" pitchFamily="2" charset="-78"/>
              </a:rPr>
              <a:t>)</a:t>
            </a:r>
          </a:p>
          <a:p>
            <a:pPr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روند اجرا: </a:t>
            </a:r>
            <a:r>
              <a:rPr lang="ar-OM" dirty="0">
                <a:cs typeface="B Nazanin" panose="00000400000000000000" pitchFamily="2" charset="-78"/>
              </a:rPr>
              <a:t>بارگذاری مدل → نمونه‌سازی در فضای نهفته (حذف نویز در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گام) → 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Decode</a:t>
            </a:r>
            <a:r>
              <a:rPr lang="en-GB" dirty="0">
                <a:cs typeface="B Nazanin" panose="00000400000000000000" pitchFamily="2" charset="-78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با 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ذخیره تصویر</a:t>
            </a:r>
          </a:p>
          <a:p>
            <a:pPr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خروجی‌ها: </a:t>
            </a:r>
            <a:r>
              <a:rPr lang="ar-OM" dirty="0">
                <a:cs typeface="B Nazanin" panose="00000400000000000000" pitchFamily="2" charset="-78"/>
              </a:rPr>
              <a:t>تصویر نهایی + (اختیاری) زمان اجرا و مصرف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VRAM</a:t>
            </a:r>
          </a:p>
          <a:p>
            <a:pPr algn="r" rtl="1">
              <a:buClr>
                <a:srgbClr val="C00000"/>
              </a:buClr>
            </a:pPr>
            <a:r>
              <a:rPr lang="ar-OM" b="1" dirty="0">
                <a:cs typeface="B Nazanin" panose="00000400000000000000" pitchFamily="2" charset="-78"/>
              </a:rPr>
              <a:t>نکته: </a:t>
            </a:r>
            <a:r>
              <a:rPr lang="ar-OM" dirty="0">
                <a:cs typeface="B Nazanin" panose="00000400000000000000" pitchFamily="2" charset="-78"/>
              </a:rPr>
              <a:t>برای تکرارپذیری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Seed</a:t>
            </a:r>
            <a:r>
              <a:rPr lang="en-GB" dirty="0">
                <a:cs typeface="B Nazanin" panose="00000400000000000000" pitchFamily="2" charset="-78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ثابت؛ برای تنوع 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Seed</a:t>
            </a:r>
            <a:r>
              <a:rPr lang="en-GB" dirty="0">
                <a:cs typeface="B Nazanin" panose="00000400000000000000" pitchFamily="2" charset="-78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متفاوت می‌گذاریم</a:t>
            </a:r>
            <a:endParaRPr lang="en-GB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6945696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2C31-1034-9811-56E4-9BB86F3B4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2" y="304800"/>
            <a:ext cx="9601200" cy="1143000"/>
          </a:xfrm>
        </p:spPr>
        <p:txBody>
          <a:bodyPr>
            <a:normAutofit/>
          </a:bodyPr>
          <a:lstStyle/>
          <a:p>
            <a:pPr algn="r" rtl="1"/>
            <a:r>
              <a:rPr lang="ar-OM" sz="3200" b="1" dirty="0">
                <a:cs typeface="B Nazanin" panose="00000400000000000000" pitchFamily="2" charset="-78"/>
              </a:rPr>
              <a:t>نتایج و ارزیابی دمو </a:t>
            </a:r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Python)</a:t>
            </a:r>
            <a:r>
              <a:rPr lang="fa-I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C0E20-785E-1EF3-17E0-A04C33914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3988" y="1752600"/>
            <a:ext cx="11582400" cy="3276600"/>
          </a:xfrm>
        </p:spPr>
        <p:txBody>
          <a:bodyPr>
            <a:normAutofit/>
          </a:bodyPr>
          <a:lstStyle/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هدف: </a:t>
            </a:r>
            <a:r>
              <a:rPr lang="ar-OM" sz="2200" dirty="0">
                <a:cs typeface="B Nazanin" panose="00000400000000000000" pitchFamily="2" charset="-78"/>
              </a:rPr>
              <a:t>نشان دادن روند تولید تصویر از رو</a:t>
            </a:r>
            <a:r>
              <a:rPr lang="fa-IR" sz="2200" dirty="0">
                <a:cs typeface="B Nazanin" panose="00000400000000000000" pitchFamily="2" charset="-78"/>
              </a:rPr>
              <a:t>ی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r>
              <a:rPr lang="fa-I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200" dirty="0"/>
              <a:t> </a:t>
            </a:r>
            <a:r>
              <a:rPr lang="ar-OM" sz="2200" dirty="0">
                <a:cs typeface="B Nazanin" panose="00000400000000000000" pitchFamily="2" charset="-78"/>
              </a:rPr>
              <a:t>با تنظیمات قابل کنترل</a:t>
            </a: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کنترل‌پذیری: </a:t>
            </a:r>
            <a:r>
              <a:rPr lang="ar-OM" sz="2200" dirty="0">
                <a:cs typeface="B Nazanin" panose="00000400000000000000" pitchFamily="2" charset="-78"/>
              </a:rPr>
              <a:t>با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Seed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200" dirty="0"/>
              <a:t> </a:t>
            </a:r>
            <a:r>
              <a:rPr lang="ar-OM" sz="2200" dirty="0">
                <a:cs typeface="B Nazanin" panose="00000400000000000000" pitchFamily="2" charset="-78"/>
              </a:rPr>
              <a:t>ثابت خروجی قابل تکرار می‌شود</a:t>
            </a: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کیفیت/زمان: </a:t>
            </a:r>
            <a:r>
              <a:rPr lang="ar-OM" sz="2200" dirty="0">
                <a:cs typeface="B Nazanin" panose="00000400000000000000" pitchFamily="2" charset="-78"/>
              </a:rPr>
              <a:t>افزایش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</a:t>
            </a:r>
            <a:r>
              <a:rPr lang="fa-IR" sz="2200" dirty="0"/>
              <a:t>     </a:t>
            </a:r>
            <a:r>
              <a:rPr lang="ar-OM" sz="2200" dirty="0">
                <a:cs typeface="B Nazanin" panose="00000400000000000000" pitchFamily="2" charset="-78"/>
              </a:rPr>
              <a:t>کیفیت و جزئیات </a:t>
            </a:r>
            <a:r>
              <a:rPr lang="ar-OM" sz="2200" dirty="0"/>
              <a:t>↑ </a:t>
            </a:r>
            <a:r>
              <a:rPr lang="ar-OM" sz="2200" dirty="0">
                <a:cs typeface="B Nazanin" panose="00000400000000000000" pitchFamily="2" charset="-78"/>
              </a:rPr>
              <a:t>ولی زمان اجرا </a:t>
            </a:r>
            <a:r>
              <a:rPr lang="ar-OM" sz="2200" dirty="0"/>
              <a:t>↑</a:t>
            </a: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وفاداری به</a:t>
            </a:r>
            <a:r>
              <a:rPr lang="fa-IR" sz="2200" b="1" dirty="0">
                <a:cs typeface="B Nazanin" panose="00000400000000000000" pitchFamily="2" charset="-78"/>
              </a:rPr>
              <a:t> </a:t>
            </a:r>
            <a:r>
              <a:rPr lang="en-GB" sz="2000" b="1" dirty="0">
                <a:cs typeface="B Nazanin" panose="00000400000000000000" pitchFamily="2" charset="-78"/>
              </a:rPr>
              <a:t>Prompt</a:t>
            </a:r>
            <a:r>
              <a:rPr lang="fa-IR" sz="2200" b="1" dirty="0"/>
              <a:t>: </a:t>
            </a:r>
            <a:r>
              <a:rPr lang="ar-OM" sz="2200" dirty="0">
                <a:cs typeface="B Nazanin" panose="00000400000000000000" pitchFamily="2" charset="-78"/>
              </a:rPr>
              <a:t>افزایش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CFG</a:t>
            </a:r>
            <a:r>
              <a:rPr lang="en-GB" sz="2200" dirty="0"/>
              <a:t> </a:t>
            </a:r>
            <a:r>
              <a:rPr lang="fa-IR" sz="2200" dirty="0"/>
              <a:t> </a:t>
            </a:r>
            <a:r>
              <a:rPr lang="ar-OM" sz="2200" dirty="0">
                <a:cs typeface="B Nazanin" panose="00000400000000000000" pitchFamily="2" charset="-78"/>
              </a:rPr>
              <a:t>تبعیت ا</a:t>
            </a:r>
            <a:r>
              <a:rPr lang="fa-IR" sz="2200" dirty="0">
                <a:cs typeface="B Nazanin" panose="00000400000000000000" pitchFamily="2" charset="-78"/>
              </a:rPr>
              <a:t>ز</a:t>
            </a:r>
            <a:r>
              <a:rPr lang="en-US" sz="2200" dirty="0">
                <a:cs typeface="B Nazanin" panose="00000400000000000000" pitchFamily="2" charset="-78"/>
              </a:rPr>
              <a:t> </a:t>
            </a:r>
            <a:r>
              <a:rPr lang="en-US" sz="2200" dirty="0"/>
              <a:t>↑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r>
              <a:rPr lang="en-GB" sz="2200" dirty="0"/>
              <a:t> </a:t>
            </a:r>
            <a:r>
              <a:rPr lang="ar-OM" sz="2200" dirty="0">
                <a:cs typeface="B Nazanin" panose="00000400000000000000" pitchFamily="2" charset="-78"/>
              </a:rPr>
              <a:t>ولی احتمال آرتیفکت </a:t>
            </a:r>
            <a:r>
              <a:rPr lang="ar-OM" sz="2200" dirty="0"/>
              <a:t>↑</a:t>
            </a:r>
          </a:p>
          <a:p>
            <a:pPr algn="r" rtl="1">
              <a:buClr>
                <a:srgbClr val="C00000"/>
              </a:buClr>
            </a:pPr>
            <a:r>
              <a:rPr lang="ar-OM" sz="2200" b="1" dirty="0">
                <a:cs typeface="B Nazanin" panose="00000400000000000000" pitchFamily="2" charset="-78"/>
              </a:rPr>
              <a:t>تنظیم پیشنهادی (تعادل کیفیت/سرعت):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Steps=25 ، CFG=7 ، Sampler=DPM++ 2M ، 512×512 ، Seed</a:t>
            </a:r>
            <a:r>
              <a:rPr lang="fa-I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OM" sz="2200" dirty="0">
                <a:cs typeface="B Nazanin" panose="00000400000000000000" pitchFamily="2" charset="-78"/>
              </a:rPr>
              <a:t>ثابت</a:t>
            </a:r>
            <a:endParaRPr lang="en-GB" sz="22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6232359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C3146-65D2-D4DD-3056-71F6A7A8D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4812" y="685800"/>
            <a:ext cx="9601200" cy="6172200"/>
          </a:xfrm>
        </p:spPr>
        <p:txBody>
          <a:bodyPr>
            <a:normAutofit/>
          </a:bodyPr>
          <a:lstStyle/>
          <a:p>
            <a:pPr marL="0" indent="0" algn="r" rtl="1">
              <a:buClr>
                <a:srgbClr val="C00000"/>
              </a:buClr>
              <a:buNone/>
            </a:pPr>
            <a:r>
              <a:rPr lang="ar-OM" sz="2800" b="1" dirty="0">
                <a:cs typeface="B Nazanin" panose="00000400000000000000" pitchFamily="2" charset="-78"/>
              </a:rPr>
              <a:t>جمع‌بندی</a:t>
            </a:r>
            <a:endParaRPr lang="ar-OM" sz="2200" b="1" dirty="0">
              <a:cs typeface="B Nazanin" panose="00000400000000000000" pitchFamily="2" charset="-78"/>
            </a:endParaRPr>
          </a:p>
          <a:p>
            <a:pPr algn="r" rtl="1">
              <a:buClr>
                <a:srgbClr val="C00000"/>
              </a:buClr>
            </a:pPr>
            <a:r>
              <a:rPr lang="ar-OM" sz="2200" dirty="0">
                <a:cs typeface="B Nazanin" panose="00000400000000000000" pitchFamily="2" charset="-78"/>
              </a:rPr>
              <a:t>مدل‌های مولد، به‌جای «تشخیص»، داده‌ی جدید تولید می‌کنند (متن/تصویر).</a:t>
            </a:r>
          </a:p>
          <a:p>
            <a:pPr algn="r" rtl="1">
              <a:buClr>
                <a:srgbClr val="C00000"/>
              </a:buClr>
            </a:pPr>
            <a:r>
              <a:rPr lang="ar-OM" sz="2200" dirty="0">
                <a:cs typeface="B Nazanin" panose="00000400000000000000" pitchFamily="2" charset="-78"/>
              </a:rPr>
              <a:t>در متن،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OM" sz="2200" dirty="0">
                <a:cs typeface="B Nazanin" panose="00000400000000000000" pitchFamily="2" charset="-78"/>
              </a:rPr>
              <a:t>های سبک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GPT</a:t>
            </a:r>
            <a:r>
              <a:rPr lang="fa-IR" sz="2200" dirty="0">
                <a:cs typeface="B Nazanin" panose="00000400000000000000" pitchFamily="2" charset="-78"/>
              </a:rPr>
              <a:t> </a:t>
            </a:r>
            <a:r>
              <a:rPr lang="ar-OM" sz="2200" dirty="0">
                <a:cs typeface="B Nazanin" panose="00000400000000000000" pitchFamily="2" charset="-78"/>
              </a:rPr>
              <a:t>به‌صورت مرحله‌به‌مرحله «توکنِ بعدی» را تولید می‌کنند.</a:t>
            </a:r>
          </a:p>
          <a:p>
            <a:pPr algn="r" rtl="1">
              <a:lnSpc>
                <a:spcPct val="100000"/>
              </a:lnSpc>
              <a:buClr>
                <a:srgbClr val="C00000"/>
              </a:buClr>
            </a:pPr>
            <a:r>
              <a:rPr lang="ar-OM" sz="2200" dirty="0">
                <a:cs typeface="B Nazanin" panose="00000400000000000000" pitchFamily="2" charset="-78"/>
              </a:rPr>
              <a:t>در تصویر،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</a:t>
            </a:r>
            <a:r>
              <a:rPr lang="en-GB" sz="2200" dirty="0">
                <a:cs typeface="B Nazanin" panose="00000400000000000000" pitchFamily="2" charset="-78"/>
              </a:rPr>
              <a:t> </a:t>
            </a:r>
            <a:r>
              <a:rPr lang="fa-IR" sz="2200" dirty="0">
                <a:cs typeface="B Nazanin" panose="00000400000000000000" pitchFamily="2" charset="-78"/>
              </a:rPr>
              <a:t> </a:t>
            </a:r>
            <a:r>
              <a:rPr lang="ar-OM" sz="2200" dirty="0">
                <a:cs typeface="B Nazanin" panose="00000400000000000000" pitchFamily="2" charset="-78"/>
              </a:rPr>
              <a:t>با حذف نویز نمونه‌سازی می‌کند و</a:t>
            </a:r>
            <a:r>
              <a:rPr lang="fa-IR" sz="2200" dirty="0">
                <a:cs typeface="B Nazanin" panose="00000400000000000000" pitchFamily="2" charset="-78"/>
              </a:rPr>
              <a:t> </a:t>
            </a:r>
            <a:r>
              <a:rPr lang="en-US" sz="2200" dirty="0">
                <a:cs typeface="B Nazanin" panose="00000400000000000000" pitchFamily="2" charset="-78"/>
              </a:rPr>
              <a:t>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Diffusion</a:t>
            </a:r>
            <a:r>
              <a:rPr lang="ar-OM" sz="2200" dirty="0">
                <a:cs typeface="B Nazanin" panose="00000400000000000000" pitchFamily="2" charset="-78"/>
              </a:rPr>
              <a:t>این کار را در «فضای نهفته» انجام می‌دهد تا سریع‌تر شود.</a:t>
            </a:r>
          </a:p>
          <a:p>
            <a:pPr algn="r" rtl="1">
              <a:buClr>
                <a:srgbClr val="C00000"/>
              </a:buClr>
            </a:pPr>
            <a:r>
              <a:rPr lang="ar-OM" sz="2200" dirty="0">
                <a:cs typeface="B Nazanin" panose="00000400000000000000" pitchFamily="2" charset="-78"/>
              </a:rPr>
              <a:t>پارامترهایی مثل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Steps،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CFG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OM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</a:t>
            </a:r>
            <a:r>
              <a:rPr lang="fa-I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Sampler</a:t>
            </a:r>
            <a:r>
              <a:rPr lang="ar-OM" sz="2200" dirty="0">
                <a:cs typeface="B Nazanin" panose="00000400000000000000" pitchFamily="2" charset="-78"/>
              </a:rPr>
              <a:t>روی کیفیت، سرعت و وفاداری به پرامپت اثر مستقیم دارند.</a:t>
            </a:r>
          </a:p>
          <a:p>
            <a:pPr algn="r" rtl="1">
              <a:buClr>
                <a:srgbClr val="C00000"/>
              </a:buClr>
            </a:pPr>
            <a:r>
              <a:rPr lang="ar-OM" sz="2200" dirty="0">
                <a:cs typeface="B Nazanin" panose="00000400000000000000" pitchFamily="2" charset="-78"/>
              </a:rPr>
              <a:t>محدودیت‌ها</a:t>
            </a:r>
          </a:p>
          <a:p>
            <a:pPr algn="r" rtl="1">
              <a:buClr>
                <a:srgbClr val="C00000"/>
              </a:buClr>
            </a:pPr>
            <a:r>
              <a:rPr lang="ar-OM" sz="2200" dirty="0">
                <a:cs typeface="B Nazanin" panose="00000400000000000000" pitchFamily="2" charset="-78"/>
              </a:rPr>
              <a:t>تولید تصویر زمان‌بر است و به منابع سخت‌افزاری</a:t>
            </a:r>
            <a:r>
              <a:rPr lang="en-US" sz="2200" dirty="0">
                <a:cs typeface="B Nazanin" panose="00000400000000000000" pitchFamily="2" charset="-78"/>
              </a:rPr>
              <a:t>(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VRAM</a:t>
            </a:r>
            <a:r>
              <a:rPr lang="en-GB" sz="2200" dirty="0">
                <a:cs typeface="B Nazanin" panose="00000400000000000000" pitchFamily="2" charset="-78"/>
              </a:rPr>
              <a:t>) </a:t>
            </a:r>
            <a:r>
              <a:rPr lang="fa-IR" sz="2200" dirty="0">
                <a:cs typeface="B Nazanin" panose="00000400000000000000" pitchFamily="2" charset="-78"/>
              </a:rPr>
              <a:t> </a:t>
            </a:r>
            <a:r>
              <a:rPr lang="ar-OM" sz="2200" dirty="0">
                <a:cs typeface="B Nazanin" panose="00000400000000000000" pitchFamily="2" charset="-78"/>
              </a:rPr>
              <a:t>وابسته است.</a:t>
            </a:r>
          </a:p>
          <a:p>
            <a:pPr algn="r" rtl="1">
              <a:buClr>
                <a:srgbClr val="C00000"/>
              </a:buClr>
            </a:pPr>
            <a:r>
              <a:rPr lang="ar-OM" sz="2200" dirty="0">
                <a:cs typeface="B Nazanin" panose="00000400000000000000" pitchFamily="2" charset="-78"/>
              </a:rPr>
              <a:t>تنظیمات نامناسب (</a:t>
            </a:r>
            <a:r>
              <a:rPr lang="en-US" sz="2200" dirty="0">
                <a:cs typeface="B Nazanin" panose="00000400000000000000" pitchFamily="2" charset="-78"/>
              </a:rPr>
              <a:t>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CFG/Steps </a:t>
            </a:r>
            <a:r>
              <a:rPr lang="ar-OM" sz="2200" dirty="0">
                <a:cs typeface="B Nazanin" panose="00000400000000000000" pitchFamily="2" charset="-78"/>
              </a:rPr>
              <a:t>زیاد یا کم) می‌تواند باعث افت کیفیت یا آرتیفکت شود.</a:t>
            </a:r>
          </a:p>
          <a:p>
            <a:pPr algn="r" rtl="1">
              <a:buClr>
                <a:srgbClr val="C00000"/>
              </a:buClr>
            </a:pPr>
            <a:r>
              <a:rPr lang="ar-OM" sz="2200" dirty="0">
                <a:cs typeface="B Nazanin" panose="00000400000000000000" pitchFamily="2" charset="-78"/>
              </a:rPr>
              <a:t>کنترل دقیق جزئیات (مثل دست‌ها یا متن داخل تصویر) همیشه قابل اعتماد نیست.</a:t>
            </a:r>
          </a:p>
        </p:txBody>
      </p:sp>
    </p:spTree>
    <p:extLst>
      <p:ext uri="{BB962C8B-B14F-4D97-AF65-F5344CB8AC3E}">
        <p14:creationId xmlns:p14="http://schemas.microsoft.com/office/powerpoint/2010/main" val="3883008789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1443-F3E2-E146-94C3-59094751A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2" y="304800"/>
            <a:ext cx="9601200" cy="685800"/>
          </a:xfrm>
        </p:spPr>
        <p:txBody>
          <a:bodyPr>
            <a:normAutofit/>
          </a:bodyPr>
          <a:lstStyle/>
          <a:p>
            <a:pPr algn="r" rtl="1"/>
            <a:r>
              <a:rPr lang="ar-OM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مسیرهای آینده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2FD65-10B3-273D-9A4A-8AE9ED5F9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212" y="1447800"/>
            <a:ext cx="9601200" cy="5029200"/>
          </a:xfrm>
        </p:spPr>
        <p:txBody>
          <a:bodyPr>
            <a:normAutofit fontScale="92500" lnSpcReduction="20000"/>
          </a:bodyPr>
          <a:lstStyle/>
          <a:p>
            <a:pPr marL="457200" indent="-457200" algn="r" rtl="1">
              <a:buAutoNum type="arabicParenR"/>
            </a:pPr>
            <a:r>
              <a:rPr lang="ar-OM" b="1" dirty="0">
                <a:solidFill>
                  <a:srgbClr val="C00000"/>
                </a:solidFill>
                <a:cs typeface="B Nazanin" panose="00000400000000000000" pitchFamily="2" charset="-78"/>
              </a:rPr>
              <a:t>سرعت و هزینه</a:t>
            </a:r>
            <a:endParaRPr lang="fa-IR" b="1" dirty="0">
              <a:solidFill>
                <a:srgbClr val="C00000"/>
              </a:solidFill>
              <a:cs typeface="B Nazanin" panose="00000400000000000000" pitchFamily="2" charset="-78"/>
            </a:endParaRPr>
          </a:p>
          <a:p>
            <a:pPr marL="342900" indent="-342900" algn="r" rtl="1"/>
            <a:r>
              <a:rPr lang="ar-OM" dirty="0">
                <a:cs typeface="B Nazanin" panose="00000400000000000000" pitchFamily="2" charset="-78"/>
              </a:rPr>
              <a:t>کاهش تعداد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ar-OM" dirty="0">
                <a:cs typeface="B Nazanin" panose="00000400000000000000" pitchFamily="2" charset="-78"/>
              </a:rPr>
              <a:t>با نمونه‌گیرهای سریع‌تر </a:t>
            </a:r>
            <a:r>
              <a:rPr lang="fa-IR" dirty="0">
                <a:cs typeface="B Nazanin" panose="00000400000000000000" pitchFamily="2" charset="-78"/>
              </a:rPr>
              <a:t>(</a:t>
            </a:r>
            <a:r>
              <a:rPr lang="ar-OM" dirty="0">
                <a:cs typeface="B Nazanin" panose="00000400000000000000" pitchFamily="2" charset="-78"/>
              </a:rPr>
              <a:t>مثل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DDIM / DPM-Solver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)</a:t>
            </a:r>
          </a:p>
          <a:p>
            <a:pPr marL="342900" indent="-342900" algn="r" rtl="1"/>
            <a:r>
              <a:rPr lang="ar-OM" dirty="0">
                <a:cs typeface="B Nazanin" panose="00000400000000000000" pitchFamily="2" charset="-78"/>
              </a:rPr>
              <a:t>بهینه‌سازی مصرف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VRAM</a:t>
            </a:r>
            <a:r>
              <a:rPr lang="fa-IR" dirty="0">
                <a:cs typeface="B Nazanin" panose="00000400000000000000" pitchFamily="2" charset="-78"/>
              </a:rPr>
              <a:t> (</a:t>
            </a:r>
            <a:r>
              <a:rPr lang="ar-OM" dirty="0">
                <a:cs typeface="B Nazanin" panose="00000400000000000000" pitchFamily="2" charset="-78"/>
              </a:rPr>
              <a:t>کاهش رزولوشن/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</a:t>
            </a:r>
            <a:r>
              <a:rPr lang="en-GB" dirty="0">
                <a:cs typeface="B Nazanin" panose="00000400000000000000" pitchFamily="2" charset="-78"/>
              </a:rPr>
              <a:t>، </a:t>
            </a:r>
            <a:r>
              <a:rPr lang="ar-OM" dirty="0">
                <a:cs typeface="B Nazanin" panose="00000400000000000000" pitchFamily="2" charset="-78"/>
              </a:rPr>
              <a:t>استفاده از مدل سبک‌تر)</a:t>
            </a:r>
            <a:endParaRPr lang="fa-IR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b="1" dirty="0">
                <a:solidFill>
                  <a:srgbClr val="C00000"/>
                </a:solidFill>
                <a:cs typeface="B Nazanin" panose="00000400000000000000" pitchFamily="2" charset="-78"/>
              </a:rPr>
              <a:t>2</a:t>
            </a:r>
            <a:r>
              <a:rPr lang="ar-OM" b="1" dirty="0">
                <a:solidFill>
                  <a:srgbClr val="C00000"/>
                </a:solidFill>
                <a:cs typeface="B Nazanin" panose="00000400000000000000" pitchFamily="2" charset="-78"/>
              </a:rPr>
              <a:t>) کنترل و کیفیت خروجی</a:t>
            </a:r>
            <a:endParaRPr lang="en-US" b="1" dirty="0">
              <a:solidFill>
                <a:srgbClr val="C00000"/>
              </a:solidFill>
              <a:cs typeface="B Nazanin" panose="00000400000000000000" pitchFamily="2" charset="-78"/>
            </a:endParaRPr>
          </a:p>
          <a:p>
            <a:pPr marL="342900" indent="-342900" algn="r" rtl="1"/>
            <a:r>
              <a:rPr lang="fa-IR" dirty="0">
                <a:cs typeface="B Nazanin" panose="00000400000000000000" pitchFamily="2" charset="-78"/>
              </a:rPr>
              <a:t>کنترل ترکیب‌بندی با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ControlNet (Edge/Depth/Pose)</a:t>
            </a:r>
          </a:p>
          <a:p>
            <a:pPr marL="342900" indent="-342900" algn="r" rtl="1"/>
            <a:r>
              <a:rPr lang="fa-IR" dirty="0">
                <a:cs typeface="B Nazanin" panose="00000400000000000000" pitchFamily="2" charset="-78"/>
              </a:rPr>
              <a:t>شخصی‌سازی سبک با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Fine-tuning</a:t>
            </a:r>
          </a:p>
          <a:p>
            <a:pPr marL="342900" indent="-342900" algn="r" rtl="1"/>
            <a:r>
              <a:rPr lang="fa-IR" dirty="0">
                <a:cs typeface="B Nazanin" panose="00000400000000000000" pitchFamily="2" charset="-78"/>
              </a:rPr>
              <a:t>اصلاح جزئیات با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Inpainting /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Outpainting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r" rtl="1">
              <a:buNone/>
            </a:pPr>
            <a:r>
              <a:rPr lang="en-US" b="1" dirty="0">
                <a:solidFill>
                  <a:srgbClr val="C00000"/>
                </a:solidFill>
                <a:cs typeface="B Nazanin" panose="00000400000000000000" pitchFamily="2" charset="-78"/>
              </a:rPr>
              <a:t>3</a:t>
            </a:r>
            <a:r>
              <a:rPr lang="ar-OM" b="1" dirty="0">
                <a:solidFill>
                  <a:srgbClr val="C00000"/>
                </a:solidFill>
                <a:cs typeface="B Nazanin" panose="00000400000000000000" pitchFamily="2" charset="-78"/>
              </a:rPr>
              <a:t>) استقرار و ارزیابی</a:t>
            </a:r>
            <a:endParaRPr lang="en-US" b="1" dirty="0">
              <a:solidFill>
                <a:srgbClr val="C00000"/>
              </a:solidFill>
              <a:cs typeface="B Nazanin" panose="00000400000000000000" pitchFamily="2" charset="-78"/>
            </a:endParaRPr>
          </a:p>
          <a:p>
            <a:pPr marL="342900" indent="-342900" algn="r" rtl="1"/>
            <a:r>
              <a:rPr lang="fa-IR" dirty="0">
                <a:cs typeface="B Nazanin" panose="00000400000000000000" pitchFamily="2" charset="-78"/>
              </a:rPr>
              <a:t>ا</a:t>
            </a:r>
            <a:r>
              <a:rPr lang="ar-OM" dirty="0">
                <a:cs typeface="B Nazanin" panose="00000400000000000000" pitchFamily="2" charset="-78"/>
              </a:rPr>
              <a:t>نتخاب </a:t>
            </a:r>
            <a:r>
              <a:rPr lang="en-US" dirty="0">
                <a:cs typeface="B Nazanin" panose="00000400000000000000" pitchFamily="2" charset="-78"/>
              </a:rPr>
              <a:t>)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vs API</a:t>
            </a:r>
            <a:r>
              <a:rPr lang="ar-OM" dirty="0">
                <a:cs typeface="B Nazanin" panose="00000400000000000000" pitchFamily="2" charset="-78"/>
              </a:rPr>
              <a:t>هزینه، سرعت، حریم خصوصی)</a:t>
            </a:r>
          </a:p>
          <a:p>
            <a:pPr marL="342900" indent="-342900" algn="r" rtl="1"/>
            <a:r>
              <a:rPr lang="ar-OM" dirty="0">
                <a:cs typeface="B Nazanin" panose="00000400000000000000" pitchFamily="2" charset="-78"/>
              </a:rPr>
              <a:t>معیارهای ارزیابی: زمان تولید، مصرف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VRAM</a:t>
            </a:r>
            <a:r>
              <a:rPr lang="en-US" dirty="0">
                <a:cs typeface="B Nazanin" panose="00000400000000000000" pitchFamily="2" charset="-78"/>
              </a:rPr>
              <a:t>، </a:t>
            </a:r>
            <a:r>
              <a:rPr lang="ar-OM" dirty="0">
                <a:cs typeface="B Nazanin" panose="00000400000000000000" pitchFamily="2" charset="-78"/>
              </a:rPr>
              <a:t>کیفیت بصری + رضایت کاربر</a:t>
            </a:r>
          </a:p>
          <a:p>
            <a:pPr marL="342900" indent="-342900" algn="r" rtl="1"/>
            <a:r>
              <a:rPr lang="ar-OM" dirty="0">
                <a:cs typeface="B Nazanin" panose="00000400000000000000" pitchFamily="2" charset="-78"/>
              </a:rPr>
              <a:t>ملاحظات اخلاقی/کپی‌رایت و فیلتر محتوای نامناسب</a:t>
            </a:r>
            <a:endParaRPr lang="en-US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0777055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1DAB5-7CFC-CBE4-6F08-490DBBB1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76200"/>
            <a:ext cx="9601200" cy="1143000"/>
          </a:xfrm>
        </p:spPr>
        <p:txBody>
          <a:bodyPr>
            <a:normAutofit/>
          </a:bodyPr>
          <a:lstStyle/>
          <a:p>
            <a:pPr algn="r" rtl="1"/>
            <a:r>
              <a:rPr lang="ar-OM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منابع منتخب </a:t>
            </a: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References)</a:t>
            </a:r>
            <a:r>
              <a:rPr lang="fa-I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DC8D5-485D-6AD7-ED24-5F8A606BE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rgbClr val="C00000"/>
              </a:buClr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 — Goodfellow et al., 2014 — Generative Adversarial Nets</a:t>
            </a:r>
          </a:p>
          <a:p>
            <a:pPr>
              <a:buClr>
                <a:srgbClr val="C00000"/>
              </a:buClr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— Vaswani et al., 2017 — Attention Is All You Need</a:t>
            </a:r>
          </a:p>
          <a:p>
            <a:pPr>
              <a:buClr>
                <a:srgbClr val="C00000"/>
              </a:buClr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GPT-1 — Radford et al., 2018 — Improving Language Understanding by Generative Pre-Training</a:t>
            </a:r>
          </a:p>
          <a:p>
            <a:pPr>
              <a:buClr>
                <a:srgbClr val="C00000"/>
              </a:buClr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GPT-3 — Brown et al., 2020 — Language Models are Few-Shot Learners</a:t>
            </a:r>
          </a:p>
          <a:p>
            <a:pPr>
              <a:buClr>
                <a:srgbClr val="C00000"/>
              </a:buClr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DDPM (Diffusion) — Ho et al., 2020 — Denoising Diffusion Probabilistic Models</a:t>
            </a:r>
          </a:p>
          <a:p>
            <a:pPr>
              <a:buClr>
                <a:srgbClr val="C00000"/>
              </a:buClr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CLIP — Radford et al., 2021 — Learning Transferable Visual Models From Natural Language Supervision</a:t>
            </a:r>
          </a:p>
          <a:p>
            <a:pPr>
              <a:buClr>
                <a:srgbClr val="C00000"/>
              </a:buClr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Diffusion / Latent Diffusion — Rombach et al., 2022 — High-Resolution Image Synthesis with Latent Diffusion Models</a:t>
            </a:r>
          </a:p>
          <a:p>
            <a:pPr>
              <a:buClr>
                <a:srgbClr val="C00000"/>
              </a:buClr>
            </a:pP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InstructGPT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RLHF — Ouyang et al., 2022 — Training language models to follow instructions with human feedback</a:t>
            </a:r>
          </a:p>
        </p:txBody>
      </p:sp>
    </p:spTree>
    <p:extLst>
      <p:ext uri="{BB962C8B-B14F-4D97-AF65-F5344CB8AC3E}">
        <p14:creationId xmlns:p14="http://schemas.microsoft.com/office/powerpoint/2010/main" val="2380840043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85BC-A50D-F7E6-7300-D5F61B844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311" y="1676400"/>
            <a:ext cx="8458201" cy="2666999"/>
          </a:xfr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cs typeface="B Nazanin" panose="00000400000000000000" pitchFamily="2" charset="-78"/>
              </a:rPr>
              <a:t>.</a:t>
            </a:r>
            <a:r>
              <a:rPr lang="ar-OM" b="1" dirty="0">
                <a:solidFill>
                  <a:srgbClr val="C00000"/>
                </a:solidFill>
                <a:cs typeface="B Nazanin" panose="00000400000000000000" pitchFamily="2" charset="-78"/>
              </a:rPr>
              <a:t>با تشکر از وقتی که اختصاص دادید</a:t>
            </a:r>
            <a:endParaRPr lang="en-GB" b="1" dirty="0">
              <a:solidFill>
                <a:srgbClr val="C0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9222053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Serenity 16x9">
  <a:themeElements>
    <a:clrScheme name="Serenity_16x9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1109.potx" id="{B47C65E8-9F73-4C4F-A3C2-84725F71438E}" vid="{CFC30A9F-F7E5-41F4-B6B7-D2E5B79E3BFB}"/>
    </a:ext>
  </a:extLst>
</a:theme>
</file>

<file path=ppt/theme/theme2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1360506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TP102801108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706526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249165-F638-412C-8E0A-DFB7045CA2E0}">
  <ds:schemaRefs>
    <ds:schemaRef ds:uri="http://purl.org/dc/elements/1.1/"/>
    <ds:schemaRef ds:uri="http://schemas.microsoft.com/office/2006/metadata/properties"/>
    <ds:schemaRef ds:uri="4873beb7-5857-4685-be1f-d57550cc96cc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11E33DF-2340-4F4E-B874-B73FEFEBFC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83C129-7B42-490A-AD74-E9303BC76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Serenity nature presentation (widescreen)</Template>
  <TotalTime>1102</TotalTime>
  <Words>2040</Words>
  <Application>Microsoft Office PowerPoint</Application>
  <PresentationFormat>Custom</PresentationFormat>
  <Paragraphs>220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B Nazanin</vt:lpstr>
      <vt:lpstr>Calibri</vt:lpstr>
      <vt:lpstr>Cambria Math</vt:lpstr>
      <vt:lpstr>Euphemia</vt:lpstr>
      <vt:lpstr>Wingdings</vt:lpstr>
      <vt:lpstr>Serenity 16x9</vt:lpstr>
      <vt:lpstr>مدل‌های یادگیری ماشین مولد (Generative AI) LLM (GPT-style) • Diffusion &amp; GAN • Local Demo (Python)  </vt:lpstr>
      <vt:lpstr>نقشه ارائه</vt:lpstr>
      <vt:lpstr>مدل مولد چیست؟ Generative vs Discriminative))</vt:lpstr>
      <vt:lpstr>دسته‌بندی مدل‌های مولد</vt:lpstr>
      <vt:lpstr>تاریخچه و نقاط عطف مدل‌های مولد</vt:lpstr>
      <vt:lpstr>PowerPoint Presentation</vt:lpstr>
      <vt:lpstr> Diffusion  چیست؟     (Denoising Diffusion Models)</vt:lpstr>
      <vt:lpstr>Diffusion : فرآیند رو به جلو (Forward / Noising)</vt:lpstr>
      <vt:lpstr>PowerPoint Presentation</vt:lpstr>
      <vt:lpstr> Stable Diffusion چیست؟ Latent Diffusion))</vt:lpstr>
      <vt:lpstr>چراLatent Diffusion   سریع‌تر است؟</vt:lpstr>
      <vt:lpstr>Reverse / Denoising: نمونه‌سازی مرحله‌به‌مرحله</vt:lpstr>
      <vt:lpstr>پارامترهای مهم در تولید تصویر (Stable Diffusion)</vt:lpstr>
      <vt:lpstr> LLM  چیست؟ (مدل‌های زبانی بزرگ)</vt:lpstr>
      <vt:lpstr>معماری LLMهای GPT-style (Transformer Decoder)</vt:lpstr>
      <vt:lpstr>تولید متن در LLM (Sampling / Decoding)</vt:lpstr>
      <vt:lpstr>آموزش و هم‌ترازسازی LLM (Pretraining → SFT → RLHF)</vt:lpstr>
      <vt:lpstr>مقایسه اجرای محلیLocal) با سرویس ابری/API)</vt:lpstr>
      <vt:lpstr>معماری دمو محلی (Python Demo Architecture)</vt:lpstr>
      <vt:lpstr>دموی محلی  :(Python)مراحل اجرا و خروجی‌ها</vt:lpstr>
      <vt:lpstr>نتایج و ارزیابی دمو Local Python))</vt:lpstr>
      <vt:lpstr>PowerPoint Presentation</vt:lpstr>
      <vt:lpstr>مسیرهای آینده</vt:lpstr>
      <vt:lpstr>منابع منتخب References))</vt:lpstr>
      <vt:lpstr>.با تشکر از وقتی که اختصاص دادید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 Safarpour</dc:creator>
  <cp:lastModifiedBy>fateme a</cp:lastModifiedBy>
  <cp:revision>22</cp:revision>
  <dcterms:created xsi:type="dcterms:W3CDTF">2025-12-29T17:12:27Z</dcterms:created>
  <dcterms:modified xsi:type="dcterms:W3CDTF">2026-01-01T18:46:43Z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